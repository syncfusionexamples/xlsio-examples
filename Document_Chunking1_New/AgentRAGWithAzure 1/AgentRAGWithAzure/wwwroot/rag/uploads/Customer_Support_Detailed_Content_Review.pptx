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65D"/>
        </a:solidFill>
        <a:effectLst/>
      </p:bgPr>
    </p:bg>
    <p:spTree>
      <p:nvGrpSpPr>
        <p:cNvPr id="1" name=""/>
        <p:cNvGrpSpPr/>
        <p:nvPr/>
      </p:nvGrpSpPr>
      <p:grpSpPr>
        <a:xfrm>
          <a:off x="0" y="0"/>
          <a:ext cx="1" cy="1"/>
          <a:chOff x="0" y="0"/>
          <a:chExt cx="1" cy="1"/>
        </a:xfrm>
      </p:grpSpPr>
      <p:sp>
        <p:nvSpPr>
          <p:cNvPr id="2" name="Shape 0"/>
          <p:cNvSpPr/>
          <p:nvPr/>
        </p:nvSpPr>
        <p:spPr>
          <a:xfrm>
            <a:off x="8458200" y="0"/>
            <a:ext cx="3733495" cy="6858000"/>
          </a:xfrm>
          <a:prstGeom prst="rect">
            <a:avLst/>
          </a:prstGeom>
          <a:solidFill>
            <a:srgbClr val="1D5A78"/>
          </a:solidFill>
          <a:ln w="12700">
            <a:solidFill>
              <a:srgbClr val="1D5A78"/>
            </a:solidFill>
            <a:prstDash val="solid"/>
          </a:ln>
        </p:spPr>
      </p:sp>
      <p:sp>
        <p:nvSpPr>
          <p:cNvPr id="3" name="Shape 1"/>
          <p:cNvSpPr/>
          <p:nvPr/>
        </p:nvSpPr>
        <p:spPr>
          <a:xfrm>
            <a:off x="8458200" y="0"/>
            <a:ext cx="128016" cy="6858000"/>
          </a:xfrm>
          <a:prstGeom prst="rect">
            <a:avLst/>
          </a:prstGeom>
          <a:solidFill>
            <a:srgbClr val="1A9E98"/>
          </a:solidFill>
          <a:ln w="12700">
            <a:solidFill>
              <a:srgbClr val="1A9E98"/>
            </a:solidFill>
            <a:prstDash val="solid"/>
          </a:ln>
        </p:spPr>
      </p:sp>
      <p:sp>
        <p:nvSpPr>
          <p:cNvPr id="4" name="Text 2"/>
          <p:cNvSpPr/>
          <p:nvPr/>
        </p:nvSpPr>
        <p:spPr>
          <a:xfrm>
            <a:off x="713232" y="1051560"/>
            <a:ext cx="6583680" cy="502920"/>
          </a:xfrm>
          <a:prstGeom prst="rect">
            <a:avLst/>
          </a:prstGeom>
          <a:noFill/>
          <a:ln/>
        </p:spPr>
        <p:txBody>
          <a:bodyPr wrap="square" lIns="0" tIns="0" rIns="0" bIns="0" rtlCol="0" anchor="ctr"/>
          <a:lstStyle/>
          <a:p>
            <a:pPr marL="0" indent="0">
              <a:buNone/>
            </a:pPr>
            <a:r>
              <a:rPr lang="en-US" sz="3000" b="1" dirty="0">
                <a:solidFill>
                  <a:srgbClr val="FFFFFF"/>
                </a:solidFill>
              </a:rPr>
              <a:t>CUSTOMER SUPPORT</a:t>
            </a:r>
            <a:endParaRPr lang="en-US" sz="3000" dirty="0"/>
          </a:p>
        </p:txBody>
      </p:sp>
      <p:sp>
        <p:nvSpPr>
          <p:cNvPr id="5" name="Text 3"/>
          <p:cNvSpPr/>
          <p:nvPr/>
        </p:nvSpPr>
        <p:spPr>
          <a:xfrm>
            <a:off x="713232" y="1627632"/>
            <a:ext cx="6858000" cy="502920"/>
          </a:xfrm>
          <a:prstGeom prst="rect">
            <a:avLst/>
          </a:prstGeom>
          <a:noFill/>
          <a:ln/>
        </p:spPr>
        <p:txBody>
          <a:bodyPr wrap="square" lIns="0" tIns="0" rIns="0" bIns="0" rtlCol="0" anchor="ctr"/>
          <a:lstStyle/>
          <a:p>
            <a:pPr marL="0" indent="0">
              <a:buNone/>
            </a:pPr>
            <a:r>
              <a:rPr lang="en-US" sz="3000" b="1" dirty="0">
                <a:solidFill>
                  <a:srgbClr val="71D2CC"/>
                </a:solidFill>
              </a:rPr>
              <a:t>PERFORMANCE REVIEW</a:t>
            </a:r>
            <a:endParaRPr lang="en-US" sz="3000" dirty="0"/>
          </a:p>
        </p:txBody>
      </p:sp>
      <p:sp>
        <p:nvSpPr>
          <p:cNvPr id="6" name="Text 4"/>
          <p:cNvSpPr/>
          <p:nvPr/>
        </p:nvSpPr>
        <p:spPr>
          <a:xfrm>
            <a:off x="731520" y="2423160"/>
            <a:ext cx="4572000" cy="320040"/>
          </a:xfrm>
          <a:prstGeom prst="rect">
            <a:avLst/>
          </a:prstGeom>
          <a:noFill/>
          <a:ln/>
        </p:spPr>
        <p:txBody>
          <a:bodyPr wrap="square" lIns="0" tIns="0" rIns="0" bIns="0" rtlCol="0" anchor="ctr"/>
          <a:lstStyle/>
          <a:p>
            <a:pPr marL="0" indent="0">
              <a:buNone/>
            </a:pPr>
            <a:r>
              <a:rPr lang="en-US" sz="1600" dirty="0">
                <a:solidFill>
                  <a:srgbClr val="D7E5ED"/>
                </a:solidFill>
              </a:rPr>
              <a:t>Detailed Operational Report</a:t>
            </a:r>
            <a:endParaRPr lang="en-US" sz="1600" dirty="0"/>
          </a:p>
        </p:txBody>
      </p:sp>
      <p:sp>
        <p:nvSpPr>
          <p:cNvPr id="7" name="Shape 5"/>
          <p:cNvSpPr/>
          <p:nvPr/>
        </p:nvSpPr>
        <p:spPr>
          <a:xfrm>
            <a:off x="731520" y="2971800"/>
            <a:ext cx="3931920" cy="36576"/>
          </a:xfrm>
          <a:prstGeom prst="rect">
            <a:avLst/>
          </a:prstGeom>
          <a:solidFill>
            <a:srgbClr val="1A9E98"/>
          </a:solidFill>
          <a:ln w="12700">
            <a:solidFill>
              <a:srgbClr val="1A9E98"/>
            </a:solidFill>
            <a:prstDash val="solid"/>
          </a:ln>
        </p:spPr>
      </p:sp>
      <p:sp>
        <p:nvSpPr>
          <p:cNvPr id="8" name="Text 6"/>
          <p:cNvSpPr/>
          <p:nvPr/>
        </p:nvSpPr>
        <p:spPr>
          <a:xfrm>
            <a:off x="731520" y="3337560"/>
            <a:ext cx="3108960" cy="685800"/>
          </a:xfrm>
          <a:prstGeom prst="rect">
            <a:avLst/>
          </a:prstGeom>
          <a:noFill/>
          <a:ln/>
        </p:spPr>
        <p:txBody>
          <a:bodyPr wrap="square" lIns="0" tIns="0" rIns="0" bIns="0" rtlCol="0" anchor="ctr"/>
          <a:lstStyle/>
          <a:p>
            <a:pPr marL="0" indent="0">
              <a:buNone/>
            </a:pPr>
            <a:r>
              <a:rPr lang="en-US" sz="1200" b="1" dirty="0">
                <a:solidFill>
                  <a:srgbClr val="FFFFFF"/>
                </a:solidFill>
              </a:rPr>
              <a:t>Reporting Period</a:t>
            </a:r>
            <a:endParaRPr lang="en-US" sz="1200" dirty="0"/>
          </a:p>
          <a:p>
            <a:pPr marL="0" indent="0">
              <a:buNone/>
            </a:pPr>
            <a:r>
              <a:rPr lang="en-US" sz="1200" b="1" dirty="0">
                <a:solidFill>
                  <a:srgbClr val="FFFFFF"/>
                </a:solidFill>
              </a:rPr>
              <a:t>January to August 2026</a:t>
            </a:r>
            <a:endParaRPr lang="en-US" sz="1200" dirty="0"/>
          </a:p>
        </p:txBody>
      </p:sp>
      <p:sp>
        <p:nvSpPr>
          <p:cNvPr id="9" name="Text 7"/>
          <p:cNvSpPr/>
          <p:nvPr/>
        </p:nvSpPr>
        <p:spPr>
          <a:xfrm>
            <a:off x="4160520" y="3337560"/>
            <a:ext cx="3200400" cy="685800"/>
          </a:xfrm>
          <a:prstGeom prst="rect">
            <a:avLst/>
          </a:prstGeom>
          <a:noFill/>
          <a:ln/>
        </p:spPr>
        <p:txBody>
          <a:bodyPr wrap="square" lIns="0" tIns="0" rIns="0" bIns="0" rtlCol="0" anchor="ctr"/>
          <a:lstStyle/>
          <a:p>
            <a:pPr marL="0" indent="0">
              <a:buNone/>
            </a:pPr>
            <a:r>
              <a:rPr lang="en-US" sz="1200" b="1" dirty="0">
                <a:solidFill>
                  <a:srgbClr val="FFFFFF"/>
                </a:solidFill>
              </a:rPr>
              <a:t>Prepared for</a:t>
            </a:r>
            <a:endParaRPr lang="en-US" sz="1200" dirty="0"/>
          </a:p>
          <a:p>
            <a:pPr marL="0" indent="0">
              <a:buNone/>
            </a:pPr>
            <a:r>
              <a:rPr lang="en-US" sz="1200" b="1" dirty="0">
                <a:solidFill>
                  <a:srgbClr val="FFFFFF"/>
                </a:solidFill>
              </a:rPr>
              <a:t>Service Leadership Committee</a:t>
            </a:r>
            <a:endParaRPr lang="en-US" sz="1200" dirty="0"/>
          </a:p>
        </p:txBody>
      </p:sp>
      <p:sp>
        <p:nvSpPr>
          <p:cNvPr id="10" name="Text 8"/>
          <p:cNvSpPr/>
          <p:nvPr/>
        </p:nvSpPr>
        <p:spPr>
          <a:xfrm>
            <a:off x="8887968" y="1170432"/>
            <a:ext cx="2788920" cy="2286000"/>
          </a:xfrm>
          <a:prstGeom prst="rect">
            <a:avLst/>
          </a:prstGeom>
          <a:noFill/>
          <a:ln/>
        </p:spPr>
        <p:txBody>
          <a:bodyPr wrap="square" lIns="0" tIns="0" rIns="0" bIns="0" rtlCol="0" anchor="ctr">
            <a:normAutofit/>
          </a:bodyPr>
          <a:lstStyle/>
          <a:p>
            <a:pPr marL="0" indent="0">
              <a:buNone/>
            </a:pPr>
            <a:r>
              <a:rPr lang="en-US" sz="1600" dirty="0">
                <a:solidFill>
                  <a:srgbClr val="FFFFFF"/>
                </a:solidFill>
              </a:rPr>
              <a:t>This presentation provides a detailed review of ticket demand, service levels, customer feedback, major incidents, team performance, operational findings, and planned improvement actions.</a:t>
            </a:r>
            <a:endParaRPr lang="en-US" sz="1600" dirty="0"/>
          </a:p>
        </p:txBody>
      </p:sp>
      <p:sp>
        <p:nvSpPr>
          <p:cNvPr id="11" name="Text 9"/>
          <p:cNvSpPr/>
          <p:nvPr/>
        </p:nvSpPr>
        <p:spPr>
          <a:xfrm>
            <a:off x="8887968" y="5440680"/>
            <a:ext cx="2377440" cy="502920"/>
          </a:xfrm>
          <a:prstGeom prst="rect">
            <a:avLst/>
          </a:prstGeom>
          <a:noFill/>
          <a:ln/>
        </p:spPr>
        <p:txBody>
          <a:bodyPr wrap="square" lIns="0" tIns="0" rIns="0" bIns="0" rtlCol="0" anchor="ctr"/>
          <a:lstStyle/>
          <a:p>
            <a:pPr marL="0" indent="0">
              <a:buNone/>
            </a:pPr>
            <a:r>
              <a:rPr lang="en-US" sz="1000" dirty="0">
                <a:solidFill>
                  <a:srgbClr val="D7E5ED"/>
                </a:solidFill>
              </a:rPr>
              <a:t>28 August 2026</a:t>
            </a:r>
            <a:endParaRPr lang="en-US" sz="1000" dirty="0"/>
          </a:p>
          <a:p>
            <a:pPr marL="0" indent="0">
              <a:buNone/>
            </a:pPr>
            <a:r>
              <a:rPr lang="en-US" sz="1000" dirty="0">
                <a:solidFill>
                  <a:srgbClr val="D7E5ED"/>
                </a:solidFill>
              </a:rPr>
              <a:t>Internal Use</a:t>
            </a:r>
            <a:endParaRPr lang="en-US" sz="1000" dirty="0"/>
          </a:p>
        </p:txBody>
      </p:sp>
      <p:sp>
        <p:nvSpPr>
          <p:cNvPr id="12" name="Text 10"/>
          <p:cNvSpPr/>
          <p:nvPr/>
        </p:nvSpPr>
        <p:spPr>
          <a:xfrm>
            <a:off x="731520" y="6272784"/>
            <a:ext cx="4572000" cy="228600"/>
          </a:xfrm>
          <a:prstGeom prst="rect">
            <a:avLst/>
          </a:prstGeom>
          <a:noFill/>
          <a:ln/>
        </p:spPr>
        <p:txBody>
          <a:bodyPr wrap="square" lIns="0" tIns="0" rIns="0" bIns="0" rtlCol="0" anchor="ctr"/>
          <a:lstStyle/>
          <a:p>
            <a:pPr marL="0" indent="0">
              <a:buNone/>
            </a:pPr>
            <a:r>
              <a:rPr lang="en-US" sz="900" b="1" dirty="0">
                <a:solidFill>
                  <a:srgbClr val="FFFFFF"/>
                </a:solidFill>
              </a:rPr>
              <a:t>Northstar Business Services Pvt. Ltd.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a:effectLst/>
      </p:bgPr>
    </p:bg>
    <p:spTree>
      <p:nvGrpSpPr>
        <p:cNvPr id="1" name=""/>
        <p:cNvGrpSpPr/>
        <p:nvPr/>
      </p:nvGrpSpPr>
      <p:grpSpPr>
        <a:xfrm>
          <a:off x="0" y="0"/>
          <a:ext cx="1" cy="1"/>
          <a:chOff x="0" y="0"/>
          <a:chExt cx="1" cy="1"/>
        </a:xfrm>
      </p:grpSpPr>
      <p:sp>
        <p:nvSpPr>
          <p:cNvPr id="2" name="Shape 0"/>
          <p:cNvSpPr/>
          <p:nvPr/>
        </p:nvSpPr>
        <p:spPr>
          <a:xfrm>
            <a:off x="0" y="0"/>
            <a:ext cx="12191695" cy="128016"/>
          </a:xfrm>
          <a:prstGeom prst="rect">
            <a:avLst/>
          </a:prstGeom>
          <a:solidFill>
            <a:srgbClr val="1A9E98"/>
          </a:solidFill>
          <a:ln w="12700">
            <a:solidFill>
              <a:srgbClr val="1A9E98"/>
            </a:solidFill>
            <a:prstDash val="solid"/>
          </a:ln>
        </p:spPr>
      </p:sp>
      <p:sp>
        <p:nvSpPr>
          <p:cNvPr id="3" name="Text 1"/>
          <p:cNvSpPr/>
          <p:nvPr/>
        </p:nvSpPr>
        <p:spPr>
          <a:xfrm>
            <a:off x="502920" y="228600"/>
            <a:ext cx="4572000" cy="201168"/>
          </a:xfrm>
          <a:prstGeom prst="rect">
            <a:avLst/>
          </a:prstGeom>
          <a:noFill/>
          <a:ln/>
        </p:spPr>
        <p:txBody>
          <a:bodyPr wrap="square" lIns="0" tIns="0" rIns="0" bIns="0" rtlCol="0" anchor="ctr"/>
          <a:lstStyle/>
          <a:p>
            <a:pPr marL="0" indent="0">
              <a:buNone/>
            </a:pPr>
            <a:r>
              <a:rPr lang="en-US" sz="800" b="1" dirty="0">
                <a:solidFill>
                  <a:srgbClr val="65758B"/>
                </a:solidFill>
              </a:rPr>
              <a:t>NORTHSTAR BUSINESS SERVICES PVT. LTD.</a:t>
            </a:r>
            <a:endParaRPr lang="en-US" sz="800" dirty="0"/>
          </a:p>
        </p:txBody>
      </p:sp>
      <p:sp>
        <p:nvSpPr>
          <p:cNvPr id="4" name="Text 2"/>
          <p:cNvSpPr/>
          <p:nvPr/>
        </p:nvSpPr>
        <p:spPr>
          <a:xfrm>
            <a:off x="9235440" y="228600"/>
            <a:ext cx="2423160" cy="201168"/>
          </a:xfrm>
          <a:prstGeom prst="rect">
            <a:avLst/>
          </a:prstGeom>
          <a:noFill/>
          <a:ln/>
        </p:spPr>
        <p:txBody>
          <a:bodyPr wrap="square" lIns="0" tIns="0" rIns="0" bIns="0" rtlCol="0" anchor="ctr"/>
          <a:lstStyle/>
          <a:p>
            <a:pPr marL="0" indent="0" algn="r">
              <a:buNone/>
            </a:pPr>
            <a:r>
              <a:rPr lang="en-US" sz="800" dirty="0">
                <a:solidFill>
                  <a:srgbClr val="65758B"/>
                </a:solidFill>
              </a:rPr>
              <a:t>Executive Summary</a:t>
            </a:r>
            <a:endParaRPr lang="en-US" sz="800" dirty="0"/>
          </a:p>
        </p:txBody>
      </p:sp>
      <p:sp>
        <p:nvSpPr>
          <p:cNvPr id="5" name="Text 3"/>
          <p:cNvSpPr/>
          <p:nvPr/>
        </p:nvSpPr>
        <p:spPr>
          <a:xfrm>
            <a:off x="566928" y="630936"/>
            <a:ext cx="10881360" cy="438912"/>
          </a:xfrm>
          <a:prstGeom prst="rect">
            <a:avLst/>
          </a:prstGeom>
          <a:noFill/>
          <a:ln/>
        </p:spPr>
        <p:txBody>
          <a:bodyPr wrap="square" lIns="0" tIns="0" rIns="0" bIns="0" rtlCol="0" anchor="ctr"/>
          <a:lstStyle/>
          <a:p>
            <a:pPr marL="0" indent="0">
              <a:buNone/>
            </a:pPr>
            <a:r>
              <a:rPr lang="en-US" sz="2500" b="1" dirty="0">
                <a:solidFill>
                  <a:srgbClr val="17365D"/>
                </a:solidFill>
              </a:rPr>
              <a:t>Executive Performance Summary</a:t>
            </a:r>
            <a:endParaRPr lang="en-US" sz="2500" dirty="0"/>
          </a:p>
        </p:txBody>
      </p:sp>
      <p:sp>
        <p:nvSpPr>
          <p:cNvPr id="6" name="Text 4"/>
          <p:cNvSpPr/>
          <p:nvPr/>
        </p:nvSpPr>
        <p:spPr>
          <a:xfrm>
            <a:off x="576072" y="1078992"/>
            <a:ext cx="10789920" cy="274320"/>
          </a:xfrm>
          <a:prstGeom prst="rect">
            <a:avLst/>
          </a:prstGeom>
          <a:noFill/>
          <a:ln/>
        </p:spPr>
        <p:txBody>
          <a:bodyPr wrap="square" lIns="0" tIns="0" rIns="0" bIns="0" rtlCol="0" anchor="ctr"/>
          <a:lstStyle/>
          <a:p>
            <a:pPr marL="0" indent="0">
              <a:buNone/>
            </a:pPr>
            <a:r>
              <a:rPr lang="en-US" sz="1050" dirty="0">
                <a:solidFill>
                  <a:srgbClr val="65758B"/>
                </a:solidFill>
              </a:rPr>
              <a:t>Overall service remained stable, with specific pressure in technical support and connectivity operations.</a:t>
            </a:r>
            <a:endParaRPr lang="en-US" sz="1050" dirty="0"/>
          </a:p>
        </p:txBody>
      </p:sp>
      <p:sp>
        <p:nvSpPr>
          <p:cNvPr id="7" name="Shape 5"/>
          <p:cNvSpPr/>
          <p:nvPr/>
        </p:nvSpPr>
        <p:spPr>
          <a:xfrm>
            <a:off x="566928" y="6437376"/>
            <a:ext cx="11018520" cy="13716"/>
          </a:xfrm>
          <a:prstGeom prst="rect">
            <a:avLst/>
          </a:prstGeom>
          <a:solidFill>
            <a:srgbClr val="D5DEE7"/>
          </a:solidFill>
          <a:ln w="12700">
            <a:solidFill>
              <a:srgbClr val="D5DEE7"/>
            </a:solidFill>
            <a:prstDash val="solid"/>
          </a:ln>
        </p:spPr>
      </p:sp>
      <p:sp>
        <p:nvSpPr>
          <p:cNvPr id="8" name="Text 6"/>
          <p:cNvSpPr/>
          <p:nvPr/>
        </p:nvSpPr>
        <p:spPr>
          <a:xfrm>
            <a:off x="566928" y="6528816"/>
            <a:ext cx="4572000" cy="164592"/>
          </a:xfrm>
          <a:prstGeom prst="rect">
            <a:avLst/>
          </a:prstGeom>
          <a:noFill/>
          <a:ln/>
        </p:spPr>
        <p:txBody>
          <a:bodyPr wrap="square" lIns="0" tIns="0" rIns="0" bIns="0" rtlCol="0" anchor="ctr"/>
          <a:lstStyle/>
          <a:p>
            <a:pPr marL="0" indent="0">
              <a:buNone/>
            </a:pPr>
            <a:r>
              <a:rPr lang="en-US" sz="700" dirty="0">
                <a:solidFill>
                  <a:srgbClr val="65758B"/>
                </a:solidFill>
              </a:rPr>
              <a:t>Internal Use | Reporting period: January to August 2026</a:t>
            </a:r>
            <a:endParaRPr lang="en-US" sz="700" dirty="0"/>
          </a:p>
        </p:txBody>
      </p:sp>
      <p:sp>
        <p:nvSpPr>
          <p:cNvPr id="9" name="Shape 7"/>
          <p:cNvSpPr/>
          <p:nvPr/>
        </p:nvSpPr>
        <p:spPr>
          <a:xfrm>
            <a:off x="658368" y="1508760"/>
            <a:ext cx="5349240" cy="1901952"/>
          </a:xfrm>
          <a:prstGeom prst="roundRect">
            <a:avLst>
              <a:gd name="adj" fmla="val 1923"/>
            </a:avLst>
          </a:prstGeom>
          <a:solidFill>
            <a:srgbClr val="FFFFFF"/>
          </a:solidFill>
          <a:ln w="12700">
            <a:solidFill>
              <a:srgbClr val="D5DEE7"/>
            </a:solidFill>
            <a:prstDash val="solid"/>
          </a:ln>
        </p:spPr>
      </p:sp>
      <p:sp>
        <p:nvSpPr>
          <p:cNvPr id="10" name="Shape 8"/>
          <p:cNvSpPr/>
          <p:nvPr/>
        </p:nvSpPr>
        <p:spPr>
          <a:xfrm>
            <a:off x="658368" y="1508760"/>
            <a:ext cx="73152" cy="1901952"/>
          </a:xfrm>
          <a:prstGeom prst="rect">
            <a:avLst/>
          </a:prstGeom>
          <a:solidFill>
            <a:srgbClr val="244A73"/>
          </a:solidFill>
          <a:ln w="12700">
            <a:solidFill>
              <a:srgbClr val="244A73"/>
            </a:solidFill>
            <a:prstDash val="solid"/>
          </a:ln>
        </p:spPr>
      </p:sp>
      <p:sp>
        <p:nvSpPr>
          <p:cNvPr id="11" name="Text 9"/>
          <p:cNvSpPr/>
          <p:nvPr/>
        </p:nvSpPr>
        <p:spPr>
          <a:xfrm>
            <a:off x="859536" y="1655064"/>
            <a:ext cx="4983480" cy="274320"/>
          </a:xfrm>
          <a:prstGeom prst="rect">
            <a:avLst/>
          </a:prstGeom>
          <a:noFill/>
          <a:ln/>
        </p:spPr>
        <p:txBody>
          <a:bodyPr wrap="square" lIns="0" tIns="0" rIns="0" bIns="0" rtlCol="0" anchor="ctr"/>
          <a:lstStyle/>
          <a:p>
            <a:pPr marL="0" indent="0">
              <a:buNone/>
            </a:pPr>
            <a:r>
              <a:rPr lang="en-US" sz="1300" b="1" dirty="0">
                <a:solidFill>
                  <a:srgbClr val="244A73"/>
                </a:solidFill>
              </a:rPr>
              <a:t>Portfolio Results</a:t>
            </a:r>
            <a:endParaRPr lang="en-US" sz="1300" dirty="0"/>
          </a:p>
        </p:txBody>
      </p:sp>
      <p:sp>
        <p:nvSpPr>
          <p:cNvPr id="12" name="Text 10"/>
          <p:cNvSpPr/>
          <p:nvPr/>
        </p:nvSpPr>
        <p:spPr>
          <a:xfrm>
            <a:off x="859536" y="2039112"/>
            <a:ext cx="4965192" cy="1243584"/>
          </a:xfrm>
          <a:prstGeom prst="rect">
            <a:avLst/>
          </a:prstGeom>
          <a:noFill/>
          <a:ln/>
        </p:spPr>
        <p:txBody>
          <a:bodyPr wrap="square" lIns="254" tIns="254" rIns="254" bIns="254" rtlCol="0" anchor="t">
            <a:normAutofit/>
          </a:bodyPr>
          <a:lstStyle/>
          <a:p>
            <a:pPr marL="0" indent="0">
              <a:buNone/>
            </a:pPr>
            <a:r>
              <a:rPr lang="en-US" sz="1200" dirty="0">
                <a:solidFill>
                  <a:srgbClr val="25364A"/>
                </a:solidFill>
              </a:rPr>
              <a:t>During the reporting period, the support organization received 4,850 tickets and resolved 4,420 tickets. At period end, 430 tickets remained open. Overall SLA compliance was 91.5%, average first response time was 42 minutes, and average resolution time was 11.8 hours. Customer satisfaction averaged 4.2 out of 5.</a:t>
            </a:r>
            <a:endParaRPr lang="en-US" sz="1200" dirty="0"/>
          </a:p>
        </p:txBody>
      </p:sp>
      <p:sp>
        <p:nvSpPr>
          <p:cNvPr id="13" name="Shape 11"/>
          <p:cNvSpPr/>
          <p:nvPr/>
        </p:nvSpPr>
        <p:spPr>
          <a:xfrm>
            <a:off x="6199632" y="1508760"/>
            <a:ext cx="5349240" cy="1901952"/>
          </a:xfrm>
          <a:prstGeom prst="roundRect">
            <a:avLst>
              <a:gd name="adj" fmla="val 1923"/>
            </a:avLst>
          </a:prstGeom>
          <a:solidFill>
            <a:srgbClr val="FFFFFF"/>
          </a:solidFill>
          <a:ln w="12700">
            <a:solidFill>
              <a:srgbClr val="D5DEE7"/>
            </a:solidFill>
            <a:prstDash val="solid"/>
          </a:ln>
        </p:spPr>
      </p:sp>
      <p:sp>
        <p:nvSpPr>
          <p:cNvPr id="14" name="Shape 12"/>
          <p:cNvSpPr/>
          <p:nvPr/>
        </p:nvSpPr>
        <p:spPr>
          <a:xfrm>
            <a:off x="6199632" y="1508760"/>
            <a:ext cx="73152" cy="1901952"/>
          </a:xfrm>
          <a:prstGeom prst="rect">
            <a:avLst/>
          </a:prstGeom>
          <a:solidFill>
            <a:srgbClr val="1A9E98"/>
          </a:solidFill>
          <a:ln w="12700">
            <a:solidFill>
              <a:srgbClr val="1A9E98"/>
            </a:solidFill>
            <a:prstDash val="solid"/>
          </a:ln>
        </p:spPr>
      </p:sp>
      <p:sp>
        <p:nvSpPr>
          <p:cNvPr id="15" name="Text 13"/>
          <p:cNvSpPr/>
          <p:nvPr/>
        </p:nvSpPr>
        <p:spPr>
          <a:xfrm>
            <a:off x="6400800" y="1655064"/>
            <a:ext cx="4983480" cy="274320"/>
          </a:xfrm>
          <a:prstGeom prst="rect">
            <a:avLst/>
          </a:prstGeom>
          <a:noFill/>
          <a:ln/>
        </p:spPr>
        <p:txBody>
          <a:bodyPr wrap="square" lIns="0" tIns="0" rIns="0" bIns="0" rtlCol="0" anchor="ctr"/>
          <a:lstStyle/>
          <a:p>
            <a:pPr marL="0" indent="0">
              <a:buNone/>
            </a:pPr>
            <a:r>
              <a:rPr lang="en-US" sz="1300" b="1" dirty="0">
                <a:solidFill>
                  <a:srgbClr val="1A9E98"/>
                </a:solidFill>
              </a:rPr>
              <a:t>Operational Interpretation</a:t>
            </a:r>
            <a:endParaRPr lang="en-US" sz="1300" dirty="0"/>
          </a:p>
        </p:txBody>
      </p:sp>
      <p:sp>
        <p:nvSpPr>
          <p:cNvPr id="16" name="Text 14"/>
          <p:cNvSpPr/>
          <p:nvPr/>
        </p:nvSpPr>
        <p:spPr>
          <a:xfrm>
            <a:off x="6400800" y="2039112"/>
            <a:ext cx="4965192" cy="1243584"/>
          </a:xfrm>
          <a:prstGeom prst="rect">
            <a:avLst/>
          </a:prstGeom>
          <a:noFill/>
          <a:ln/>
        </p:spPr>
        <p:txBody>
          <a:bodyPr wrap="square" lIns="254" tIns="254" rIns="254" bIns="254" rtlCol="0" anchor="t">
            <a:normAutofit/>
          </a:bodyPr>
          <a:lstStyle/>
          <a:p>
            <a:pPr marL="0" indent="0">
              <a:buNone/>
            </a:pPr>
            <a:r>
              <a:rPr lang="en-US" sz="1200" dirty="0">
                <a:solidFill>
                  <a:srgbClr val="25364A"/>
                </a:solidFill>
              </a:rPr>
              <a:t>The service operation met the company-wide SLA target overall. However, the aggregate result hides performance gaps within Technical Support and Connectivity Support. Higher investigation effort, specialist dependency, recurring access problems, and major service incidents increased resolution time and backlog in these teams.</a:t>
            </a:r>
            <a:endParaRPr lang="en-US" sz="1200" dirty="0"/>
          </a:p>
        </p:txBody>
      </p:sp>
      <p:sp>
        <p:nvSpPr>
          <p:cNvPr id="17" name="Shape 15"/>
          <p:cNvSpPr/>
          <p:nvPr/>
        </p:nvSpPr>
        <p:spPr>
          <a:xfrm>
            <a:off x="658368" y="3639312"/>
            <a:ext cx="5349240" cy="1920240"/>
          </a:xfrm>
          <a:prstGeom prst="roundRect">
            <a:avLst>
              <a:gd name="adj" fmla="val 1905"/>
            </a:avLst>
          </a:prstGeom>
          <a:solidFill>
            <a:srgbClr val="FFFFFF"/>
          </a:solidFill>
          <a:ln w="12700">
            <a:solidFill>
              <a:srgbClr val="D5DEE7"/>
            </a:solidFill>
            <a:prstDash val="solid"/>
          </a:ln>
        </p:spPr>
      </p:sp>
      <p:sp>
        <p:nvSpPr>
          <p:cNvPr id="18" name="Shape 16"/>
          <p:cNvSpPr/>
          <p:nvPr/>
        </p:nvSpPr>
        <p:spPr>
          <a:xfrm>
            <a:off x="658368" y="3639312"/>
            <a:ext cx="73152" cy="1920240"/>
          </a:xfrm>
          <a:prstGeom prst="rect">
            <a:avLst/>
          </a:prstGeom>
          <a:solidFill>
            <a:srgbClr val="E67E22"/>
          </a:solidFill>
          <a:ln w="12700">
            <a:solidFill>
              <a:srgbClr val="E67E22"/>
            </a:solidFill>
            <a:prstDash val="solid"/>
          </a:ln>
        </p:spPr>
      </p:sp>
      <p:sp>
        <p:nvSpPr>
          <p:cNvPr id="19" name="Text 17"/>
          <p:cNvSpPr/>
          <p:nvPr/>
        </p:nvSpPr>
        <p:spPr>
          <a:xfrm>
            <a:off x="859536" y="3785616"/>
            <a:ext cx="4983480" cy="274320"/>
          </a:xfrm>
          <a:prstGeom prst="rect">
            <a:avLst/>
          </a:prstGeom>
          <a:noFill/>
          <a:ln/>
        </p:spPr>
        <p:txBody>
          <a:bodyPr wrap="square" lIns="0" tIns="0" rIns="0" bIns="0" rtlCol="0" anchor="ctr"/>
          <a:lstStyle/>
          <a:p>
            <a:pPr marL="0" indent="0">
              <a:buNone/>
            </a:pPr>
            <a:r>
              <a:rPr lang="en-US" sz="1300" b="1" dirty="0">
                <a:solidFill>
                  <a:srgbClr val="E67E22"/>
                </a:solidFill>
              </a:rPr>
              <a:t>Primary Areas of Concern</a:t>
            </a:r>
            <a:endParaRPr lang="en-US" sz="1300" dirty="0"/>
          </a:p>
        </p:txBody>
      </p:sp>
      <p:sp>
        <p:nvSpPr>
          <p:cNvPr id="20" name="Text 18"/>
          <p:cNvSpPr/>
          <p:nvPr/>
        </p:nvSpPr>
        <p:spPr>
          <a:xfrm>
            <a:off x="859536" y="4169664"/>
            <a:ext cx="4965192" cy="1261872"/>
          </a:xfrm>
          <a:prstGeom prst="rect">
            <a:avLst/>
          </a:prstGeom>
          <a:noFill/>
          <a:ln/>
        </p:spPr>
        <p:txBody>
          <a:bodyPr wrap="square" lIns="254" tIns="254" rIns="254" bIns="254" rtlCol="0" anchor="t">
            <a:normAutofit/>
          </a:bodyPr>
          <a:lstStyle/>
          <a:p>
            <a:pPr marL="177800" indent="-177800">
              <a:buSzPct val="100000"/>
              <a:buChar char="•"/>
            </a:pPr>
            <a:r>
              <a:rPr lang="en-US" sz="1080" dirty="0">
                <a:solidFill>
                  <a:srgbClr val="25364A"/>
                </a:solidFill>
              </a:rPr>
              <a:t>Thirty-eight critical tickets required accelerated handling.</a:t>
            </a:r>
            <a:endParaRPr lang="en-US" sz="1080" dirty="0"/>
          </a:p>
          <a:p>
            <a:pPr marL="177800" indent="-177800">
              <a:buSzPct val="100000"/>
              <a:buChar char="•"/>
            </a:pPr>
            <a:r>
              <a:rPr lang="en-US" sz="1080" dirty="0">
                <a:solidFill>
                  <a:srgbClr val="25364A"/>
                </a:solidFill>
              </a:rPr>
              <a:t>Technical Support recorded the longest average resolution time.</a:t>
            </a:r>
            <a:endParaRPr lang="en-US" sz="1080" dirty="0"/>
          </a:p>
          <a:p>
            <a:pPr marL="177800" indent="-177800">
              <a:buSzPct val="100000"/>
              <a:buChar char="•"/>
            </a:pPr>
            <a:r>
              <a:rPr lang="en-US" sz="1080" dirty="0">
                <a:solidFill>
                  <a:srgbClr val="25364A"/>
                </a:solidFill>
              </a:rPr>
              <a:t>Connectivity Support finished below the 90% SLA target.</a:t>
            </a:r>
            <a:endParaRPr lang="en-US" sz="1080" dirty="0"/>
          </a:p>
          <a:p>
            <a:pPr marL="177800" indent="-177800">
              <a:buSzPct val="100000"/>
              <a:buChar char="•"/>
            </a:pPr>
            <a:r>
              <a:rPr lang="en-US" sz="1080" dirty="0">
                <a:solidFill>
                  <a:srgbClr val="25364A"/>
                </a:solidFill>
              </a:rPr>
              <a:t>Self-service satisfaction was lower than assisted channels.</a:t>
            </a:r>
            <a:endParaRPr lang="en-US" sz="1080" dirty="0"/>
          </a:p>
          <a:p>
            <a:pPr marL="177800" indent="-177800">
              <a:buSzPct val="100000"/>
              <a:buChar char="•"/>
            </a:pPr>
            <a:r>
              <a:rPr lang="en-US" sz="1080" dirty="0">
                <a:solidFill>
                  <a:srgbClr val="25364A"/>
                </a:solidFill>
              </a:rPr>
              <a:t>Four major high-impact issues remained unresolved at period end.</a:t>
            </a:r>
            <a:endParaRPr lang="en-US" sz="1080" dirty="0"/>
          </a:p>
        </p:txBody>
      </p:sp>
      <p:sp>
        <p:nvSpPr>
          <p:cNvPr id="21" name="Shape 19"/>
          <p:cNvSpPr/>
          <p:nvPr/>
        </p:nvSpPr>
        <p:spPr>
          <a:xfrm>
            <a:off x="6199632" y="3639312"/>
            <a:ext cx="5349240" cy="1920240"/>
          </a:xfrm>
          <a:prstGeom prst="roundRect">
            <a:avLst>
              <a:gd name="adj" fmla="val 1905"/>
            </a:avLst>
          </a:prstGeom>
          <a:solidFill>
            <a:srgbClr val="FFFFFF"/>
          </a:solidFill>
          <a:ln w="12700">
            <a:solidFill>
              <a:srgbClr val="D5DEE7"/>
            </a:solidFill>
            <a:prstDash val="solid"/>
          </a:ln>
        </p:spPr>
      </p:sp>
      <p:sp>
        <p:nvSpPr>
          <p:cNvPr id="22" name="Shape 20"/>
          <p:cNvSpPr/>
          <p:nvPr/>
        </p:nvSpPr>
        <p:spPr>
          <a:xfrm>
            <a:off x="6199632" y="3639312"/>
            <a:ext cx="73152" cy="1920240"/>
          </a:xfrm>
          <a:prstGeom prst="rect">
            <a:avLst/>
          </a:prstGeom>
          <a:solidFill>
            <a:srgbClr val="2E8B57"/>
          </a:solidFill>
          <a:ln w="12700">
            <a:solidFill>
              <a:srgbClr val="2E8B57"/>
            </a:solidFill>
            <a:prstDash val="solid"/>
          </a:ln>
        </p:spPr>
      </p:sp>
      <p:sp>
        <p:nvSpPr>
          <p:cNvPr id="23" name="Text 21"/>
          <p:cNvSpPr/>
          <p:nvPr/>
        </p:nvSpPr>
        <p:spPr>
          <a:xfrm>
            <a:off x="6400800" y="3785616"/>
            <a:ext cx="4983480" cy="274320"/>
          </a:xfrm>
          <a:prstGeom prst="rect">
            <a:avLst/>
          </a:prstGeom>
          <a:noFill/>
          <a:ln/>
        </p:spPr>
        <p:txBody>
          <a:bodyPr wrap="square" lIns="0" tIns="0" rIns="0" bIns="0" rtlCol="0" anchor="ctr"/>
          <a:lstStyle/>
          <a:p>
            <a:pPr marL="0" indent="0">
              <a:buNone/>
            </a:pPr>
            <a:r>
              <a:rPr lang="en-US" sz="1300" b="1" dirty="0">
                <a:solidFill>
                  <a:srgbClr val="2E8B57"/>
                </a:solidFill>
              </a:rPr>
              <a:t>Leadership Priorities</a:t>
            </a:r>
            <a:endParaRPr lang="en-US" sz="1300" dirty="0"/>
          </a:p>
        </p:txBody>
      </p:sp>
      <p:sp>
        <p:nvSpPr>
          <p:cNvPr id="24" name="Text 22"/>
          <p:cNvSpPr/>
          <p:nvPr/>
        </p:nvSpPr>
        <p:spPr>
          <a:xfrm>
            <a:off x="6400800" y="4169664"/>
            <a:ext cx="4965192" cy="1261872"/>
          </a:xfrm>
          <a:prstGeom prst="rect">
            <a:avLst/>
          </a:prstGeom>
          <a:noFill/>
          <a:ln/>
        </p:spPr>
        <p:txBody>
          <a:bodyPr wrap="square" lIns="254" tIns="254" rIns="254" bIns="254" rtlCol="0" anchor="t">
            <a:normAutofit/>
          </a:bodyPr>
          <a:lstStyle/>
          <a:p>
            <a:pPr marL="177800" indent="-177800">
              <a:buSzPct val="100000"/>
              <a:buChar char="•"/>
            </a:pPr>
            <a:r>
              <a:rPr lang="en-US" sz="1080" dirty="0">
                <a:solidFill>
                  <a:srgbClr val="25364A"/>
                </a:solidFill>
              </a:rPr>
              <a:t>Increase specialist capacity for complex technical cases.</a:t>
            </a:r>
            <a:endParaRPr lang="en-US" sz="1080" dirty="0"/>
          </a:p>
          <a:p>
            <a:pPr marL="177800" indent="-177800">
              <a:buSzPct val="100000"/>
              <a:buChar char="•"/>
            </a:pPr>
            <a:r>
              <a:rPr lang="en-US" sz="1080" dirty="0">
                <a:solidFill>
                  <a:srgbClr val="25364A"/>
                </a:solidFill>
              </a:rPr>
              <a:t>Improve critical-ticket escalation and ownership.</a:t>
            </a:r>
            <a:endParaRPr lang="en-US" sz="1080" dirty="0"/>
          </a:p>
          <a:p>
            <a:pPr marL="177800" indent="-177800">
              <a:buSzPct val="100000"/>
              <a:buChar char="•"/>
            </a:pPr>
            <a:r>
              <a:rPr lang="en-US" sz="1080" dirty="0">
                <a:solidFill>
                  <a:srgbClr val="25364A"/>
                </a:solidFill>
              </a:rPr>
              <a:t>Strengthen proactive customer status communication.</a:t>
            </a:r>
            <a:endParaRPr lang="en-US" sz="1080" dirty="0"/>
          </a:p>
          <a:p>
            <a:pPr marL="177800" indent="-177800">
              <a:buSzPct val="100000"/>
              <a:buChar char="•"/>
            </a:pPr>
            <a:r>
              <a:rPr lang="en-US" sz="1080" dirty="0">
                <a:solidFill>
                  <a:srgbClr val="25364A"/>
                </a:solidFill>
              </a:rPr>
              <a:t>Expand self-service troubleshooting content.</a:t>
            </a:r>
            <a:endParaRPr lang="en-US" sz="1080" dirty="0"/>
          </a:p>
          <a:p>
            <a:pPr marL="177800" indent="-177800">
              <a:buSzPct val="100000"/>
              <a:buChar char="•"/>
            </a:pPr>
            <a:r>
              <a:rPr lang="en-US" sz="1080" dirty="0">
                <a:solidFill>
                  <a:srgbClr val="25364A"/>
                </a:solidFill>
              </a:rPr>
              <a:t>Reduce repeat incidents through formal root-cause reviews.</a:t>
            </a:r>
            <a:endParaRPr lang="en-US" sz="10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a:effectLst/>
      </p:bgPr>
    </p:bg>
    <p:spTree>
      <p:nvGrpSpPr>
        <p:cNvPr id="1" name=""/>
        <p:cNvGrpSpPr/>
        <p:nvPr/>
      </p:nvGrpSpPr>
      <p:grpSpPr>
        <a:xfrm>
          <a:off x="0" y="0"/>
          <a:ext cx="1" cy="1"/>
          <a:chOff x="0" y="0"/>
          <a:chExt cx="1" cy="1"/>
        </a:xfrm>
      </p:grpSpPr>
      <p:sp>
        <p:nvSpPr>
          <p:cNvPr id="2" name="Shape 0"/>
          <p:cNvSpPr/>
          <p:nvPr/>
        </p:nvSpPr>
        <p:spPr>
          <a:xfrm>
            <a:off x="0" y="0"/>
            <a:ext cx="12191695" cy="128016"/>
          </a:xfrm>
          <a:prstGeom prst="rect">
            <a:avLst/>
          </a:prstGeom>
          <a:solidFill>
            <a:srgbClr val="1A9E98"/>
          </a:solidFill>
          <a:ln w="12700">
            <a:solidFill>
              <a:srgbClr val="1A9E98"/>
            </a:solidFill>
            <a:prstDash val="solid"/>
          </a:ln>
        </p:spPr>
      </p:sp>
      <p:sp>
        <p:nvSpPr>
          <p:cNvPr id="3" name="Text 1"/>
          <p:cNvSpPr/>
          <p:nvPr/>
        </p:nvSpPr>
        <p:spPr>
          <a:xfrm>
            <a:off x="502920" y="228600"/>
            <a:ext cx="4572000" cy="201168"/>
          </a:xfrm>
          <a:prstGeom prst="rect">
            <a:avLst/>
          </a:prstGeom>
          <a:noFill/>
          <a:ln/>
        </p:spPr>
        <p:txBody>
          <a:bodyPr wrap="square" lIns="0" tIns="0" rIns="0" bIns="0" rtlCol="0" anchor="ctr"/>
          <a:lstStyle/>
          <a:p>
            <a:pPr marL="0" indent="0">
              <a:buNone/>
            </a:pPr>
            <a:r>
              <a:rPr lang="en-US" sz="800" b="1" dirty="0">
                <a:solidFill>
                  <a:srgbClr val="65758B"/>
                </a:solidFill>
              </a:rPr>
              <a:t>NORTHSTAR BUSINESS SERVICES PVT. LTD.</a:t>
            </a:r>
            <a:endParaRPr lang="en-US" sz="800" dirty="0"/>
          </a:p>
        </p:txBody>
      </p:sp>
      <p:sp>
        <p:nvSpPr>
          <p:cNvPr id="4" name="Text 2"/>
          <p:cNvSpPr/>
          <p:nvPr/>
        </p:nvSpPr>
        <p:spPr>
          <a:xfrm>
            <a:off x="9235440" y="228600"/>
            <a:ext cx="2423160" cy="201168"/>
          </a:xfrm>
          <a:prstGeom prst="rect">
            <a:avLst/>
          </a:prstGeom>
          <a:noFill/>
          <a:ln/>
        </p:spPr>
        <p:txBody>
          <a:bodyPr wrap="square" lIns="0" tIns="0" rIns="0" bIns="0" rtlCol="0" anchor="ctr"/>
          <a:lstStyle/>
          <a:p>
            <a:pPr marL="0" indent="0" algn="r">
              <a:buNone/>
            </a:pPr>
            <a:r>
              <a:rPr lang="en-US" sz="800" dirty="0">
                <a:solidFill>
                  <a:srgbClr val="65758B"/>
                </a:solidFill>
              </a:rPr>
              <a:t>Demand Analysis</a:t>
            </a:r>
            <a:endParaRPr lang="en-US" sz="800" dirty="0"/>
          </a:p>
        </p:txBody>
      </p:sp>
      <p:sp>
        <p:nvSpPr>
          <p:cNvPr id="5" name="Text 3"/>
          <p:cNvSpPr/>
          <p:nvPr/>
        </p:nvSpPr>
        <p:spPr>
          <a:xfrm>
            <a:off x="566928" y="630936"/>
            <a:ext cx="10881360" cy="438912"/>
          </a:xfrm>
          <a:prstGeom prst="rect">
            <a:avLst/>
          </a:prstGeom>
          <a:noFill/>
          <a:ln/>
        </p:spPr>
        <p:txBody>
          <a:bodyPr wrap="square" lIns="0" tIns="0" rIns="0" bIns="0" rtlCol="0" anchor="ctr"/>
          <a:lstStyle/>
          <a:p>
            <a:pPr marL="0" indent="0">
              <a:buNone/>
            </a:pPr>
            <a:r>
              <a:rPr lang="en-US" sz="2500" b="1" dirty="0">
                <a:solidFill>
                  <a:srgbClr val="17365D"/>
                </a:solidFill>
              </a:rPr>
              <a:t>Ticket Demand and Case Profile</a:t>
            </a:r>
            <a:endParaRPr lang="en-US" sz="2500" dirty="0"/>
          </a:p>
        </p:txBody>
      </p:sp>
      <p:sp>
        <p:nvSpPr>
          <p:cNvPr id="6" name="Text 4"/>
          <p:cNvSpPr/>
          <p:nvPr/>
        </p:nvSpPr>
        <p:spPr>
          <a:xfrm>
            <a:off x="576072" y="1078992"/>
            <a:ext cx="10789920" cy="274320"/>
          </a:xfrm>
          <a:prstGeom prst="rect">
            <a:avLst/>
          </a:prstGeom>
          <a:noFill/>
          <a:ln/>
        </p:spPr>
        <p:txBody>
          <a:bodyPr wrap="square" lIns="0" tIns="0" rIns="0" bIns="0" rtlCol="0" anchor="ctr"/>
          <a:lstStyle/>
          <a:p>
            <a:pPr marL="0" indent="0">
              <a:buNone/>
            </a:pPr>
            <a:r>
              <a:rPr lang="en-US" sz="1050" dirty="0">
                <a:solidFill>
                  <a:srgbClr val="65758B"/>
                </a:solidFill>
              </a:rPr>
              <a:t>The ticket mix shows where support capacity, knowledge content, and preventive work should be concentrated.</a:t>
            </a:r>
            <a:endParaRPr lang="en-US" sz="1050" dirty="0"/>
          </a:p>
        </p:txBody>
      </p:sp>
      <p:sp>
        <p:nvSpPr>
          <p:cNvPr id="7" name="Shape 5"/>
          <p:cNvSpPr/>
          <p:nvPr/>
        </p:nvSpPr>
        <p:spPr>
          <a:xfrm>
            <a:off x="566928" y="6437376"/>
            <a:ext cx="11018520" cy="13716"/>
          </a:xfrm>
          <a:prstGeom prst="rect">
            <a:avLst/>
          </a:prstGeom>
          <a:solidFill>
            <a:srgbClr val="D5DEE7"/>
          </a:solidFill>
          <a:ln w="12700">
            <a:solidFill>
              <a:srgbClr val="D5DEE7"/>
            </a:solidFill>
            <a:prstDash val="solid"/>
          </a:ln>
        </p:spPr>
      </p:sp>
      <p:sp>
        <p:nvSpPr>
          <p:cNvPr id="8" name="Text 6"/>
          <p:cNvSpPr/>
          <p:nvPr/>
        </p:nvSpPr>
        <p:spPr>
          <a:xfrm>
            <a:off x="566928" y="6528816"/>
            <a:ext cx="4572000" cy="164592"/>
          </a:xfrm>
          <a:prstGeom prst="rect">
            <a:avLst/>
          </a:prstGeom>
          <a:noFill/>
          <a:ln/>
        </p:spPr>
        <p:txBody>
          <a:bodyPr wrap="square" lIns="0" tIns="0" rIns="0" bIns="0" rtlCol="0" anchor="ctr"/>
          <a:lstStyle/>
          <a:p>
            <a:pPr marL="0" indent="0">
              <a:buNone/>
            </a:pPr>
            <a:r>
              <a:rPr lang="en-US" sz="700" dirty="0">
                <a:solidFill>
                  <a:srgbClr val="65758B"/>
                </a:solidFill>
              </a:rPr>
              <a:t>Internal Use | Reporting period: January to August 2026</a:t>
            </a:r>
            <a:endParaRPr lang="en-US" sz="700" dirty="0"/>
          </a:p>
        </p:txBody>
      </p:sp>
      <p:sp>
        <p:nvSpPr>
          <p:cNvPr id="9" name="Shape 7"/>
          <p:cNvSpPr/>
          <p:nvPr/>
        </p:nvSpPr>
        <p:spPr>
          <a:xfrm>
            <a:off x="658368" y="1481328"/>
            <a:ext cx="3493008" cy="1847088"/>
          </a:xfrm>
          <a:prstGeom prst="roundRect">
            <a:avLst>
              <a:gd name="adj" fmla="val 1980"/>
            </a:avLst>
          </a:prstGeom>
          <a:solidFill>
            <a:srgbClr val="FFFFFF"/>
          </a:solidFill>
          <a:ln w="12700">
            <a:solidFill>
              <a:srgbClr val="D5DEE7"/>
            </a:solidFill>
            <a:prstDash val="solid"/>
          </a:ln>
        </p:spPr>
      </p:sp>
      <p:sp>
        <p:nvSpPr>
          <p:cNvPr id="10" name="Shape 8"/>
          <p:cNvSpPr/>
          <p:nvPr/>
        </p:nvSpPr>
        <p:spPr>
          <a:xfrm>
            <a:off x="658368" y="1481328"/>
            <a:ext cx="73152" cy="1847088"/>
          </a:xfrm>
          <a:prstGeom prst="rect">
            <a:avLst/>
          </a:prstGeom>
          <a:solidFill>
            <a:srgbClr val="244A73"/>
          </a:solidFill>
          <a:ln w="12700">
            <a:solidFill>
              <a:srgbClr val="244A73"/>
            </a:solidFill>
            <a:prstDash val="solid"/>
          </a:ln>
        </p:spPr>
      </p:sp>
      <p:sp>
        <p:nvSpPr>
          <p:cNvPr id="11" name="Text 9"/>
          <p:cNvSpPr/>
          <p:nvPr/>
        </p:nvSpPr>
        <p:spPr>
          <a:xfrm>
            <a:off x="859536" y="1627632"/>
            <a:ext cx="3127248" cy="274320"/>
          </a:xfrm>
          <a:prstGeom prst="rect">
            <a:avLst/>
          </a:prstGeom>
          <a:noFill/>
          <a:ln/>
        </p:spPr>
        <p:txBody>
          <a:bodyPr wrap="square" lIns="0" tIns="0" rIns="0" bIns="0" rtlCol="0" anchor="ctr"/>
          <a:lstStyle/>
          <a:p>
            <a:pPr marL="0" indent="0">
              <a:buNone/>
            </a:pPr>
            <a:r>
              <a:rPr lang="en-US" sz="1300" b="1" dirty="0">
                <a:solidFill>
                  <a:srgbClr val="244A73"/>
                </a:solidFill>
              </a:rPr>
              <a:t>Login and Access</a:t>
            </a:r>
            <a:endParaRPr lang="en-US" sz="1300" dirty="0"/>
          </a:p>
        </p:txBody>
      </p:sp>
      <p:sp>
        <p:nvSpPr>
          <p:cNvPr id="12" name="Text 10"/>
          <p:cNvSpPr/>
          <p:nvPr/>
        </p:nvSpPr>
        <p:spPr>
          <a:xfrm>
            <a:off x="859536" y="2011680"/>
            <a:ext cx="3108960" cy="1188720"/>
          </a:xfrm>
          <a:prstGeom prst="rect">
            <a:avLst/>
          </a:prstGeom>
          <a:noFill/>
          <a:ln/>
        </p:spPr>
        <p:txBody>
          <a:bodyPr wrap="square" lIns="254" tIns="254" rIns="254" bIns="254" rtlCol="0" anchor="t">
            <a:normAutofit/>
          </a:bodyPr>
          <a:lstStyle/>
          <a:p>
            <a:pPr marL="0" indent="0">
              <a:buNone/>
            </a:pPr>
            <a:r>
              <a:rPr lang="en-US" sz="1070" dirty="0">
                <a:solidFill>
                  <a:srgbClr val="25364A"/>
                </a:solidFill>
              </a:rPr>
              <a:t>1,150 tickets, representing the largest category. Common cases included password resets, locked accounts, multifactor authentication failures, and access permissions. Repeated login problems indicate a need for improved identity guidance and stronger preventive monitoring.</a:t>
            </a:r>
            <a:endParaRPr lang="en-US" sz="1070" dirty="0"/>
          </a:p>
        </p:txBody>
      </p:sp>
      <p:sp>
        <p:nvSpPr>
          <p:cNvPr id="13" name="Shape 11"/>
          <p:cNvSpPr/>
          <p:nvPr/>
        </p:nvSpPr>
        <p:spPr>
          <a:xfrm>
            <a:off x="4352544" y="1481328"/>
            <a:ext cx="3493008" cy="1847088"/>
          </a:xfrm>
          <a:prstGeom prst="roundRect">
            <a:avLst>
              <a:gd name="adj" fmla="val 1980"/>
            </a:avLst>
          </a:prstGeom>
          <a:solidFill>
            <a:srgbClr val="FFFFFF"/>
          </a:solidFill>
          <a:ln w="12700">
            <a:solidFill>
              <a:srgbClr val="D5DEE7"/>
            </a:solidFill>
            <a:prstDash val="solid"/>
          </a:ln>
        </p:spPr>
      </p:sp>
      <p:sp>
        <p:nvSpPr>
          <p:cNvPr id="14" name="Shape 12"/>
          <p:cNvSpPr/>
          <p:nvPr/>
        </p:nvSpPr>
        <p:spPr>
          <a:xfrm>
            <a:off x="4352544" y="1481328"/>
            <a:ext cx="73152" cy="1847088"/>
          </a:xfrm>
          <a:prstGeom prst="rect">
            <a:avLst/>
          </a:prstGeom>
          <a:solidFill>
            <a:srgbClr val="C0392B"/>
          </a:solidFill>
          <a:ln w="12700">
            <a:solidFill>
              <a:srgbClr val="C0392B"/>
            </a:solidFill>
            <a:prstDash val="solid"/>
          </a:ln>
        </p:spPr>
      </p:sp>
      <p:sp>
        <p:nvSpPr>
          <p:cNvPr id="15" name="Text 13"/>
          <p:cNvSpPr/>
          <p:nvPr/>
        </p:nvSpPr>
        <p:spPr>
          <a:xfrm>
            <a:off x="4553712" y="1627632"/>
            <a:ext cx="3127248" cy="274320"/>
          </a:xfrm>
          <a:prstGeom prst="rect">
            <a:avLst/>
          </a:prstGeom>
          <a:noFill/>
          <a:ln/>
        </p:spPr>
        <p:txBody>
          <a:bodyPr wrap="square" lIns="0" tIns="0" rIns="0" bIns="0" rtlCol="0" anchor="ctr"/>
          <a:lstStyle/>
          <a:p>
            <a:pPr marL="0" indent="0">
              <a:buNone/>
            </a:pPr>
            <a:r>
              <a:rPr lang="en-US" sz="1300" b="1" dirty="0">
                <a:solidFill>
                  <a:srgbClr val="C0392B"/>
                </a:solidFill>
              </a:rPr>
              <a:t>Technical Errors</a:t>
            </a:r>
            <a:endParaRPr lang="en-US" sz="1300" dirty="0"/>
          </a:p>
        </p:txBody>
      </p:sp>
      <p:sp>
        <p:nvSpPr>
          <p:cNvPr id="16" name="Text 14"/>
          <p:cNvSpPr/>
          <p:nvPr/>
        </p:nvSpPr>
        <p:spPr>
          <a:xfrm>
            <a:off x="4553712" y="2011680"/>
            <a:ext cx="3108960" cy="1188720"/>
          </a:xfrm>
          <a:prstGeom prst="rect">
            <a:avLst/>
          </a:prstGeom>
          <a:noFill/>
          <a:ln/>
        </p:spPr>
        <p:txBody>
          <a:bodyPr wrap="square" lIns="254" tIns="254" rIns="254" bIns="254" rtlCol="0" anchor="t">
            <a:normAutofit/>
          </a:bodyPr>
          <a:lstStyle/>
          <a:p>
            <a:pPr marL="0" indent="0">
              <a:buNone/>
            </a:pPr>
            <a:r>
              <a:rPr lang="en-US" sz="1070" dirty="0">
                <a:solidFill>
                  <a:srgbClr val="25364A"/>
                </a:solidFill>
              </a:rPr>
              <a:t>1,020 tickets related to application behavior, unexpected system errors, integration failures, and software configuration. These cases often required specialist investigation and contributed significantly to the Technical Support backlog.</a:t>
            </a:r>
            <a:endParaRPr lang="en-US" sz="1070" dirty="0"/>
          </a:p>
        </p:txBody>
      </p:sp>
      <p:sp>
        <p:nvSpPr>
          <p:cNvPr id="17" name="Shape 15"/>
          <p:cNvSpPr/>
          <p:nvPr/>
        </p:nvSpPr>
        <p:spPr>
          <a:xfrm>
            <a:off x="8046720" y="1481328"/>
            <a:ext cx="3493008" cy="1847088"/>
          </a:xfrm>
          <a:prstGeom prst="roundRect">
            <a:avLst>
              <a:gd name="adj" fmla="val 1980"/>
            </a:avLst>
          </a:prstGeom>
          <a:solidFill>
            <a:srgbClr val="FFFFFF"/>
          </a:solidFill>
          <a:ln w="12700">
            <a:solidFill>
              <a:srgbClr val="D5DEE7"/>
            </a:solidFill>
            <a:prstDash val="solid"/>
          </a:ln>
        </p:spPr>
      </p:sp>
      <p:sp>
        <p:nvSpPr>
          <p:cNvPr id="18" name="Shape 16"/>
          <p:cNvSpPr/>
          <p:nvPr/>
        </p:nvSpPr>
        <p:spPr>
          <a:xfrm>
            <a:off x="8046720" y="1481328"/>
            <a:ext cx="73152" cy="1847088"/>
          </a:xfrm>
          <a:prstGeom prst="rect">
            <a:avLst/>
          </a:prstGeom>
          <a:solidFill>
            <a:srgbClr val="E67E22"/>
          </a:solidFill>
          <a:ln w="12700">
            <a:solidFill>
              <a:srgbClr val="E67E22"/>
            </a:solidFill>
            <a:prstDash val="solid"/>
          </a:ln>
        </p:spPr>
      </p:sp>
      <p:sp>
        <p:nvSpPr>
          <p:cNvPr id="19" name="Text 17"/>
          <p:cNvSpPr/>
          <p:nvPr/>
        </p:nvSpPr>
        <p:spPr>
          <a:xfrm>
            <a:off x="8247888" y="1627632"/>
            <a:ext cx="3127248" cy="274320"/>
          </a:xfrm>
          <a:prstGeom prst="rect">
            <a:avLst/>
          </a:prstGeom>
          <a:noFill/>
          <a:ln/>
        </p:spPr>
        <p:txBody>
          <a:bodyPr wrap="square" lIns="0" tIns="0" rIns="0" bIns="0" rtlCol="0" anchor="ctr"/>
          <a:lstStyle/>
          <a:p>
            <a:pPr marL="0" indent="0">
              <a:buNone/>
            </a:pPr>
            <a:r>
              <a:rPr lang="en-US" sz="1300" b="1" dirty="0">
                <a:solidFill>
                  <a:srgbClr val="E67E22"/>
                </a:solidFill>
              </a:rPr>
              <a:t>Payment Issues</a:t>
            </a:r>
            <a:endParaRPr lang="en-US" sz="1300" dirty="0"/>
          </a:p>
        </p:txBody>
      </p:sp>
      <p:sp>
        <p:nvSpPr>
          <p:cNvPr id="20" name="Text 18"/>
          <p:cNvSpPr/>
          <p:nvPr/>
        </p:nvSpPr>
        <p:spPr>
          <a:xfrm>
            <a:off x="8247888" y="2011680"/>
            <a:ext cx="3108960" cy="1188720"/>
          </a:xfrm>
          <a:prstGeom prst="rect">
            <a:avLst/>
          </a:prstGeom>
          <a:noFill/>
          <a:ln/>
        </p:spPr>
        <p:txBody>
          <a:bodyPr wrap="square" lIns="254" tIns="254" rIns="254" bIns="254" rtlCol="0" anchor="t">
            <a:normAutofit/>
          </a:bodyPr>
          <a:lstStyle/>
          <a:p>
            <a:pPr marL="0" indent="0">
              <a:buNone/>
            </a:pPr>
            <a:r>
              <a:rPr lang="en-US" sz="1070" dirty="0">
                <a:solidFill>
                  <a:srgbClr val="25364A"/>
                </a:solidFill>
              </a:rPr>
              <a:t>870 tickets involved failed payments, duplicate payment concerns, delayed confirmation, invoice questions, and refund status. Several ticket spikes were linked to the March payment-gateway interruption.</a:t>
            </a:r>
            <a:endParaRPr lang="en-US" sz="1070" dirty="0"/>
          </a:p>
        </p:txBody>
      </p:sp>
      <p:sp>
        <p:nvSpPr>
          <p:cNvPr id="21" name="Shape 19"/>
          <p:cNvSpPr/>
          <p:nvPr/>
        </p:nvSpPr>
        <p:spPr>
          <a:xfrm>
            <a:off x="658368" y="3547872"/>
            <a:ext cx="3493008" cy="1847088"/>
          </a:xfrm>
          <a:prstGeom prst="roundRect">
            <a:avLst>
              <a:gd name="adj" fmla="val 1980"/>
            </a:avLst>
          </a:prstGeom>
          <a:solidFill>
            <a:srgbClr val="FFFFFF"/>
          </a:solidFill>
          <a:ln w="12700">
            <a:solidFill>
              <a:srgbClr val="D5DEE7"/>
            </a:solidFill>
            <a:prstDash val="solid"/>
          </a:ln>
        </p:spPr>
      </p:sp>
      <p:sp>
        <p:nvSpPr>
          <p:cNvPr id="22" name="Shape 20"/>
          <p:cNvSpPr/>
          <p:nvPr/>
        </p:nvSpPr>
        <p:spPr>
          <a:xfrm>
            <a:off x="658368" y="3547872"/>
            <a:ext cx="73152" cy="1847088"/>
          </a:xfrm>
          <a:prstGeom prst="rect">
            <a:avLst/>
          </a:prstGeom>
          <a:solidFill>
            <a:srgbClr val="1A9E98"/>
          </a:solidFill>
          <a:ln w="12700">
            <a:solidFill>
              <a:srgbClr val="1A9E98"/>
            </a:solidFill>
            <a:prstDash val="solid"/>
          </a:ln>
        </p:spPr>
      </p:sp>
      <p:sp>
        <p:nvSpPr>
          <p:cNvPr id="23" name="Text 21"/>
          <p:cNvSpPr/>
          <p:nvPr/>
        </p:nvSpPr>
        <p:spPr>
          <a:xfrm>
            <a:off x="859536" y="3694176"/>
            <a:ext cx="3127248" cy="274320"/>
          </a:xfrm>
          <a:prstGeom prst="rect">
            <a:avLst/>
          </a:prstGeom>
          <a:noFill/>
          <a:ln/>
        </p:spPr>
        <p:txBody>
          <a:bodyPr wrap="square" lIns="0" tIns="0" rIns="0" bIns="0" rtlCol="0" anchor="ctr"/>
          <a:lstStyle/>
          <a:p>
            <a:pPr marL="0" indent="0">
              <a:buNone/>
            </a:pPr>
            <a:r>
              <a:rPr lang="en-US" sz="1300" b="1" dirty="0">
                <a:solidFill>
                  <a:srgbClr val="1A9E98"/>
                </a:solidFill>
              </a:rPr>
              <a:t>Connectivity</a:t>
            </a:r>
            <a:endParaRPr lang="en-US" sz="1300" dirty="0"/>
          </a:p>
        </p:txBody>
      </p:sp>
      <p:sp>
        <p:nvSpPr>
          <p:cNvPr id="24" name="Text 22"/>
          <p:cNvSpPr/>
          <p:nvPr/>
        </p:nvSpPr>
        <p:spPr>
          <a:xfrm>
            <a:off x="859536" y="4078224"/>
            <a:ext cx="3108960" cy="1188720"/>
          </a:xfrm>
          <a:prstGeom prst="rect">
            <a:avLst/>
          </a:prstGeom>
          <a:noFill/>
          <a:ln/>
        </p:spPr>
        <p:txBody>
          <a:bodyPr wrap="square" lIns="254" tIns="254" rIns="254" bIns="254" rtlCol="0" anchor="t">
            <a:normAutofit/>
          </a:bodyPr>
          <a:lstStyle/>
          <a:p>
            <a:pPr marL="0" indent="0">
              <a:buNone/>
            </a:pPr>
            <a:r>
              <a:rPr lang="en-US" sz="1070" dirty="0">
                <a:solidFill>
                  <a:srgbClr val="25364A"/>
                </a:solidFill>
              </a:rPr>
              <a:t>740 tickets covered intermittent service, inability to connect, latency, and regional network disruption. Resolution depended on internal network teams and external service providers.</a:t>
            </a:r>
            <a:endParaRPr lang="en-US" sz="1070" dirty="0"/>
          </a:p>
        </p:txBody>
      </p:sp>
      <p:sp>
        <p:nvSpPr>
          <p:cNvPr id="25" name="Shape 23"/>
          <p:cNvSpPr/>
          <p:nvPr/>
        </p:nvSpPr>
        <p:spPr>
          <a:xfrm>
            <a:off x="4352544" y="3547872"/>
            <a:ext cx="3493008" cy="1847088"/>
          </a:xfrm>
          <a:prstGeom prst="roundRect">
            <a:avLst>
              <a:gd name="adj" fmla="val 1980"/>
            </a:avLst>
          </a:prstGeom>
          <a:solidFill>
            <a:srgbClr val="FFFFFF"/>
          </a:solidFill>
          <a:ln w="12700">
            <a:solidFill>
              <a:srgbClr val="D5DEE7"/>
            </a:solidFill>
            <a:prstDash val="solid"/>
          </a:ln>
        </p:spPr>
      </p:sp>
      <p:sp>
        <p:nvSpPr>
          <p:cNvPr id="26" name="Shape 24"/>
          <p:cNvSpPr/>
          <p:nvPr/>
        </p:nvSpPr>
        <p:spPr>
          <a:xfrm>
            <a:off x="4352544" y="3547872"/>
            <a:ext cx="73152" cy="1847088"/>
          </a:xfrm>
          <a:prstGeom prst="rect">
            <a:avLst/>
          </a:prstGeom>
          <a:solidFill>
            <a:srgbClr val="2E8B57"/>
          </a:solidFill>
          <a:ln w="12700">
            <a:solidFill>
              <a:srgbClr val="2E8B57"/>
            </a:solidFill>
            <a:prstDash val="solid"/>
          </a:ln>
        </p:spPr>
      </p:sp>
      <p:sp>
        <p:nvSpPr>
          <p:cNvPr id="27" name="Text 25"/>
          <p:cNvSpPr/>
          <p:nvPr/>
        </p:nvSpPr>
        <p:spPr>
          <a:xfrm>
            <a:off x="4553712" y="3694176"/>
            <a:ext cx="3127248" cy="274320"/>
          </a:xfrm>
          <a:prstGeom prst="rect">
            <a:avLst/>
          </a:prstGeom>
          <a:noFill/>
          <a:ln/>
        </p:spPr>
        <p:txBody>
          <a:bodyPr wrap="square" lIns="0" tIns="0" rIns="0" bIns="0" rtlCol="0" anchor="ctr"/>
          <a:lstStyle/>
          <a:p>
            <a:pPr marL="0" indent="0">
              <a:buNone/>
            </a:pPr>
            <a:r>
              <a:rPr lang="en-US" sz="1300" b="1" dirty="0">
                <a:solidFill>
                  <a:srgbClr val="2E8B57"/>
                </a:solidFill>
              </a:rPr>
              <a:t>Account Updates</a:t>
            </a:r>
            <a:endParaRPr lang="en-US" sz="1300" dirty="0"/>
          </a:p>
        </p:txBody>
      </p:sp>
      <p:sp>
        <p:nvSpPr>
          <p:cNvPr id="28" name="Text 26"/>
          <p:cNvSpPr/>
          <p:nvPr/>
        </p:nvSpPr>
        <p:spPr>
          <a:xfrm>
            <a:off x="4553712" y="4078224"/>
            <a:ext cx="3108960" cy="1188720"/>
          </a:xfrm>
          <a:prstGeom prst="rect">
            <a:avLst/>
          </a:prstGeom>
          <a:noFill/>
          <a:ln/>
        </p:spPr>
        <p:txBody>
          <a:bodyPr wrap="square" lIns="254" tIns="254" rIns="254" bIns="254" rtlCol="0" anchor="t">
            <a:normAutofit/>
          </a:bodyPr>
          <a:lstStyle/>
          <a:p>
            <a:pPr marL="0" indent="0">
              <a:buNone/>
            </a:pPr>
            <a:r>
              <a:rPr lang="en-US" sz="1070" dirty="0">
                <a:solidFill>
                  <a:srgbClr val="25364A"/>
                </a:solidFill>
              </a:rPr>
              <a:t>620 tickets included contact-detail changes, account ownership updates, profile corrections, and service-plan amendments. Most cases were resolved within standard targets.</a:t>
            </a:r>
            <a:endParaRPr lang="en-US" sz="1070" dirty="0"/>
          </a:p>
        </p:txBody>
      </p:sp>
      <p:sp>
        <p:nvSpPr>
          <p:cNvPr id="29" name="Shape 27"/>
          <p:cNvSpPr/>
          <p:nvPr/>
        </p:nvSpPr>
        <p:spPr>
          <a:xfrm>
            <a:off x="8046720" y="3547872"/>
            <a:ext cx="3493008" cy="1847088"/>
          </a:xfrm>
          <a:prstGeom prst="roundRect">
            <a:avLst>
              <a:gd name="adj" fmla="val 1980"/>
            </a:avLst>
          </a:prstGeom>
          <a:solidFill>
            <a:srgbClr val="FFFFFF"/>
          </a:solidFill>
          <a:ln w="12700">
            <a:solidFill>
              <a:srgbClr val="D5DEE7"/>
            </a:solidFill>
            <a:prstDash val="solid"/>
          </a:ln>
        </p:spPr>
      </p:sp>
      <p:sp>
        <p:nvSpPr>
          <p:cNvPr id="30" name="Shape 28"/>
          <p:cNvSpPr/>
          <p:nvPr/>
        </p:nvSpPr>
        <p:spPr>
          <a:xfrm>
            <a:off x="8046720" y="3547872"/>
            <a:ext cx="73152" cy="1847088"/>
          </a:xfrm>
          <a:prstGeom prst="rect">
            <a:avLst/>
          </a:prstGeom>
          <a:solidFill>
            <a:srgbClr val="244A73"/>
          </a:solidFill>
          <a:ln w="12700">
            <a:solidFill>
              <a:srgbClr val="244A73"/>
            </a:solidFill>
            <a:prstDash val="solid"/>
          </a:ln>
        </p:spPr>
      </p:sp>
      <p:sp>
        <p:nvSpPr>
          <p:cNvPr id="31" name="Text 29"/>
          <p:cNvSpPr/>
          <p:nvPr/>
        </p:nvSpPr>
        <p:spPr>
          <a:xfrm>
            <a:off x="8247888" y="3694176"/>
            <a:ext cx="3127248" cy="274320"/>
          </a:xfrm>
          <a:prstGeom prst="rect">
            <a:avLst/>
          </a:prstGeom>
          <a:noFill/>
          <a:ln/>
        </p:spPr>
        <p:txBody>
          <a:bodyPr wrap="square" lIns="0" tIns="0" rIns="0" bIns="0" rtlCol="0" anchor="ctr"/>
          <a:lstStyle/>
          <a:p>
            <a:pPr marL="0" indent="0">
              <a:buNone/>
            </a:pPr>
            <a:r>
              <a:rPr lang="en-US" sz="1300" b="1" dirty="0">
                <a:solidFill>
                  <a:srgbClr val="244A73"/>
                </a:solidFill>
              </a:rPr>
              <a:t>General Enquiries</a:t>
            </a:r>
            <a:endParaRPr lang="en-US" sz="1300" dirty="0"/>
          </a:p>
        </p:txBody>
      </p:sp>
      <p:sp>
        <p:nvSpPr>
          <p:cNvPr id="32" name="Text 30"/>
          <p:cNvSpPr/>
          <p:nvPr/>
        </p:nvSpPr>
        <p:spPr>
          <a:xfrm>
            <a:off x="8247888" y="4078224"/>
            <a:ext cx="3108960" cy="1188720"/>
          </a:xfrm>
          <a:prstGeom prst="rect">
            <a:avLst/>
          </a:prstGeom>
          <a:noFill/>
          <a:ln/>
        </p:spPr>
        <p:txBody>
          <a:bodyPr wrap="square" lIns="254" tIns="254" rIns="254" bIns="254" rtlCol="0" anchor="t">
            <a:normAutofit/>
          </a:bodyPr>
          <a:lstStyle/>
          <a:p>
            <a:pPr marL="0" indent="0">
              <a:buNone/>
            </a:pPr>
            <a:r>
              <a:rPr lang="en-US" sz="1070" dirty="0">
                <a:solidFill>
                  <a:srgbClr val="25364A"/>
                </a:solidFill>
              </a:rPr>
              <a:t>450 tickets covered product information, operating instructions, service availability, and general requests. These cases offer opportunities for knowledge-base deflection.</a:t>
            </a:r>
            <a:endParaRPr lang="en-US" sz="1070" dirty="0"/>
          </a:p>
        </p:txBody>
      </p:sp>
      <p:sp>
        <p:nvSpPr>
          <p:cNvPr id="33" name="Shape 31"/>
          <p:cNvSpPr/>
          <p:nvPr/>
        </p:nvSpPr>
        <p:spPr>
          <a:xfrm>
            <a:off x="658368" y="5888736"/>
            <a:ext cx="10881360" cy="411480"/>
          </a:xfrm>
          <a:prstGeom prst="roundRect">
            <a:avLst>
              <a:gd name="adj" fmla="val 6667"/>
            </a:avLst>
          </a:prstGeom>
          <a:solidFill>
            <a:srgbClr val="E7F4F3"/>
          </a:solidFill>
          <a:ln w="12700">
            <a:solidFill>
              <a:srgbClr val="B8DCD9"/>
            </a:solidFill>
            <a:prstDash val="solid"/>
          </a:ln>
        </p:spPr>
      </p:sp>
      <p:sp>
        <p:nvSpPr>
          <p:cNvPr id="34" name="Text 32"/>
          <p:cNvSpPr/>
          <p:nvPr/>
        </p:nvSpPr>
        <p:spPr>
          <a:xfrm>
            <a:off x="822960" y="5998464"/>
            <a:ext cx="10515600" cy="164592"/>
          </a:xfrm>
          <a:prstGeom prst="rect">
            <a:avLst/>
          </a:prstGeom>
          <a:noFill/>
          <a:ln/>
        </p:spPr>
        <p:txBody>
          <a:bodyPr wrap="square" lIns="0" tIns="0" rIns="0" bIns="0" rtlCol="0" anchor="ctr"/>
          <a:lstStyle/>
          <a:p>
            <a:pPr marL="0" indent="0" algn="ctr">
              <a:buNone/>
            </a:pPr>
            <a:r>
              <a:rPr lang="en-US" sz="950" b="1" dirty="0">
                <a:solidFill>
                  <a:srgbClr val="244A73"/>
                </a:solidFill>
              </a:rPr>
              <a:t>Login, technical-error and payment cases accounted for 3,040 tickets, or approximately 62.7% of total demand.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a:effectLst/>
      </p:bgPr>
    </p:bg>
    <p:spTree>
      <p:nvGrpSpPr>
        <p:cNvPr id="1" name=""/>
        <p:cNvGrpSpPr/>
        <p:nvPr/>
      </p:nvGrpSpPr>
      <p:grpSpPr>
        <a:xfrm>
          <a:off x="0" y="0"/>
          <a:ext cx="1" cy="1"/>
          <a:chOff x="0" y="0"/>
          <a:chExt cx="1" cy="1"/>
        </a:xfrm>
      </p:grpSpPr>
      <p:sp>
        <p:nvSpPr>
          <p:cNvPr id="2" name="Shape 0"/>
          <p:cNvSpPr/>
          <p:nvPr/>
        </p:nvSpPr>
        <p:spPr>
          <a:xfrm>
            <a:off x="0" y="0"/>
            <a:ext cx="12191695" cy="128016"/>
          </a:xfrm>
          <a:prstGeom prst="rect">
            <a:avLst/>
          </a:prstGeom>
          <a:solidFill>
            <a:srgbClr val="1A9E98"/>
          </a:solidFill>
          <a:ln w="12700">
            <a:solidFill>
              <a:srgbClr val="1A9E98"/>
            </a:solidFill>
            <a:prstDash val="solid"/>
          </a:ln>
        </p:spPr>
      </p:sp>
      <p:sp>
        <p:nvSpPr>
          <p:cNvPr id="3" name="Text 1"/>
          <p:cNvSpPr/>
          <p:nvPr/>
        </p:nvSpPr>
        <p:spPr>
          <a:xfrm>
            <a:off x="502920" y="228600"/>
            <a:ext cx="4572000" cy="201168"/>
          </a:xfrm>
          <a:prstGeom prst="rect">
            <a:avLst/>
          </a:prstGeom>
          <a:noFill/>
          <a:ln/>
        </p:spPr>
        <p:txBody>
          <a:bodyPr wrap="square" lIns="0" tIns="0" rIns="0" bIns="0" rtlCol="0" anchor="ctr"/>
          <a:lstStyle/>
          <a:p>
            <a:pPr marL="0" indent="0">
              <a:buNone/>
            </a:pPr>
            <a:r>
              <a:rPr lang="en-US" sz="800" b="1" dirty="0">
                <a:solidFill>
                  <a:srgbClr val="65758B"/>
                </a:solidFill>
              </a:rPr>
              <a:t>NORTHSTAR BUSINESS SERVICES PVT. LTD.</a:t>
            </a:r>
            <a:endParaRPr lang="en-US" sz="800" dirty="0"/>
          </a:p>
        </p:txBody>
      </p:sp>
      <p:sp>
        <p:nvSpPr>
          <p:cNvPr id="4" name="Text 2"/>
          <p:cNvSpPr/>
          <p:nvPr/>
        </p:nvSpPr>
        <p:spPr>
          <a:xfrm>
            <a:off x="9235440" y="228600"/>
            <a:ext cx="2423160" cy="201168"/>
          </a:xfrm>
          <a:prstGeom prst="rect">
            <a:avLst/>
          </a:prstGeom>
          <a:noFill/>
          <a:ln/>
        </p:spPr>
        <p:txBody>
          <a:bodyPr wrap="square" lIns="0" tIns="0" rIns="0" bIns="0" rtlCol="0" anchor="ctr"/>
          <a:lstStyle/>
          <a:p>
            <a:pPr marL="0" indent="0" algn="r">
              <a:buNone/>
            </a:pPr>
            <a:r>
              <a:rPr lang="en-US" sz="800" dirty="0">
                <a:solidFill>
                  <a:srgbClr val="65758B"/>
                </a:solidFill>
              </a:rPr>
              <a:t>Service Commitments</a:t>
            </a:r>
            <a:endParaRPr lang="en-US" sz="800" dirty="0"/>
          </a:p>
        </p:txBody>
      </p:sp>
      <p:sp>
        <p:nvSpPr>
          <p:cNvPr id="5" name="Text 3"/>
          <p:cNvSpPr/>
          <p:nvPr/>
        </p:nvSpPr>
        <p:spPr>
          <a:xfrm>
            <a:off x="566928" y="630936"/>
            <a:ext cx="10881360" cy="438912"/>
          </a:xfrm>
          <a:prstGeom prst="rect">
            <a:avLst/>
          </a:prstGeom>
          <a:noFill/>
          <a:ln/>
        </p:spPr>
        <p:txBody>
          <a:bodyPr wrap="square" lIns="0" tIns="0" rIns="0" bIns="0" rtlCol="0" anchor="ctr"/>
          <a:lstStyle/>
          <a:p>
            <a:pPr marL="0" indent="0">
              <a:buNone/>
            </a:pPr>
            <a:r>
              <a:rPr lang="en-US" sz="2500" b="1" dirty="0">
                <a:solidFill>
                  <a:srgbClr val="17365D"/>
                </a:solidFill>
              </a:rPr>
              <a:t>Priority Classification and Response Commitments</a:t>
            </a:r>
            <a:endParaRPr lang="en-US" sz="2500" dirty="0"/>
          </a:p>
        </p:txBody>
      </p:sp>
      <p:sp>
        <p:nvSpPr>
          <p:cNvPr id="6" name="Text 4"/>
          <p:cNvSpPr/>
          <p:nvPr/>
        </p:nvSpPr>
        <p:spPr>
          <a:xfrm>
            <a:off x="576072" y="1078992"/>
            <a:ext cx="10789920" cy="274320"/>
          </a:xfrm>
          <a:prstGeom prst="rect">
            <a:avLst/>
          </a:prstGeom>
          <a:noFill/>
          <a:ln/>
        </p:spPr>
        <p:txBody>
          <a:bodyPr wrap="square" lIns="0" tIns="0" rIns="0" bIns="0" rtlCol="0" anchor="ctr"/>
          <a:lstStyle/>
          <a:p>
            <a:pPr marL="0" indent="0">
              <a:buNone/>
            </a:pPr>
            <a:r>
              <a:rPr lang="en-US" sz="1050" dirty="0">
                <a:solidFill>
                  <a:srgbClr val="65758B"/>
                </a:solidFill>
              </a:rPr>
              <a:t>Tickets are assigned a priority based on business impact, urgency, customer exposure, and service availability.</a:t>
            </a:r>
            <a:endParaRPr lang="en-US" sz="1050" dirty="0"/>
          </a:p>
        </p:txBody>
      </p:sp>
      <p:sp>
        <p:nvSpPr>
          <p:cNvPr id="7" name="Shape 5"/>
          <p:cNvSpPr/>
          <p:nvPr/>
        </p:nvSpPr>
        <p:spPr>
          <a:xfrm>
            <a:off x="566928" y="6437376"/>
            <a:ext cx="11018520" cy="13716"/>
          </a:xfrm>
          <a:prstGeom prst="rect">
            <a:avLst/>
          </a:prstGeom>
          <a:solidFill>
            <a:srgbClr val="D5DEE7"/>
          </a:solidFill>
          <a:ln w="12700">
            <a:solidFill>
              <a:srgbClr val="D5DEE7"/>
            </a:solidFill>
            <a:prstDash val="solid"/>
          </a:ln>
        </p:spPr>
      </p:sp>
      <p:sp>
        <p:nvSpPr>
          <p:cNvPr id="8" name="Text 6"/>
          <p:cNvSpPr/>
          <p:nvPr/>
        </p:nvSpPr>
        <p:spPr>
          <a:xfrm>
            <a:off x="566928" y="6528816"/>
            <a:ext cx="4572000" cy="164592"/>
          </a:xfrm>
          <a:prstGeom prst="rect">
            <a:avLst/>
          </a:prstGeom>
          <a:noFill/>
          <a:ln/>
        </p:spPr>
        <p:txBody>
          <a:bodyPr wrap="square" lIns="0" tIns="0" rIns="0" bIns="0" rtlCol="0" anchor="ctr"/>
          <a:lstStyle/>
          <a:p>
            <a:pPr marL="0" indent="0">
              <a:buNone/>
            </a:pPr>
            <a:r>
              <a:rPr lang="en-US" sz="700" dirty="0">
                <a:solidFill>
                  <a:srgbClr val="65758B"/>
                </a:solidFill>
              </a:rPr>
              <a:t>Internal Use | Reporting period: January to August 2026</a:t>
            </a:r>
            <a:endParaRPr lang="en-US" sz="700" dirty="0"/>
          </a:p>
        </p:txBody>
      </p:sp>
      <p:sp>
        <p:nvSpPr>
          <p:cNvPr id="9" name="Shape 7"/>
          <p:cNvSpPr/>
          <p:nvPr/>
        </p:nvSpPr>
        <p:spPr>
          <a:xfrm>
            <a:off x="658368" y="1481328"/>
            <a:ext cx="5349240" cy="1078992"/>
          </a:xfrm>
          <a:prstGeom prst="roundRect">
            <a:avLst>
              <a:gd name="adj" fmla="val 3390"/>
            </a:avLst>
          </a:prstGeom>
          <a:solidFill>
            <a:srgbClr val="FFFFFF"/>
          </a:solidFill>
          <a:ln w="12700">
            <a:solidFill>
              <a:srgbClr val="D5DEE7"/>
            </a:solidFill>
            <a:prstDash val="solid"/>
          </a:ln>
        </p:spPr>
      </p:sp>
      <p:sp>
        <p:nvSpPr>
          <p:cNvPr id="10" name="Shape 8"/>
          <p:cNvSpPr/>
          <p:nvPr/>
        </p:nvSpPr>
        <p:spPr>
          <a:xfrm>
            <a:off x="658368" y="1481328"/>
            <a:ext cx="73152" cy="1078992"/>
          </a:xfrm>
          <a:prstGeom prst="rect">
            <a:avLst/>
          </a:prstGeom>
          <a:solidFill>
            <a:srgbClr val="C0392B"/>
          </a:solidFill>
          <a:ln w="12700">
            <a:solidFill>
              <a:srgbClr val="C0392B"/>
            </a:solidFill>
            <a:prstDash val="solid"/>
          </a:ln>
        </p:spPr>
      </p:sp>
      <p:sp>
        <p:nvSpPr>
          <p:cNvPr id="11" name="Text 9"/>
          <p:cNvSpPr/>
          <p:nvPr/>
        </p:nvSpPr>
        <p:spPr>
          <a:xfrm>
            <a:off x="859536" y="1627632"/>
            <a:ext cx="4983480" cy="274320"/>
          </a:xfrm>
          <a:prstGeom prst="rect">
            <a:avLst/>
          </a:prstGeom>
          <a:noFill/>
          <a:ln/>
        </p:spPr>
        <p:txBody>
          <a:bodyPr wrap="square" lIns="0" tIns="0" rIns="0" bIns="0" rtlCol="0" anchor="ctr"/>
          <a:lstStyle/>
          <a:p>
            <a:pPr marL="0" indent="0">
              <a:buNone/>
            </a:pPr>
            <a:r>
              <a:rPr lang="en-US" sz="1300" b="1" dirty="0">
                <a:solidFill>
                  <a:srgbClr val="C0392B"/>
                </a:solidFill>
              </a:rPr>
              <a:t>Critical Priority</a:t>
            </a:r>
            <a:endParaRPr lang="en-US" sz="1300" dirty="0"/>
          </a:p>
        </p:txBody>
      </p:sp>
      <p:sp>
        <p:nvSpPr>
          <p:cNvPr id="12" name="Text 10"/>
          <p:cNvSpPr/>
          <p:nvPr/>
        </p:nvSpPr>
        <p:spPr>
          <a:xfrm>
            <a:off x="859536" y="2011680"/>
            <a:ext cx="4965192" cy="420624"/>
          </a:xfrm>
          <a:prstGeom prst="rect">
            <a:avLst/>
          </a:prstGeom>
          <a:noFill/>
          <a:ln/>
        </p:spPr>
        <p:txBody>
          <a:bodyPr wrap="square" lIns="254" tIns="254" rIns="254" bIns="254" rtlCol="0" anchor="t">
            <a:normAutofit/>
          </a:bodyPr>
          <a:lstStyle/>
          <a:p>
            <a:pPr marL="0" indent="0">
              <a:buNone/>
            </a:pPr>
            <a:r>
              <a:rPr lang="en-US" sz="1060" dirty="0">
                <a:solidFill>
                  <a:srgbClr val="25364A"/>
                </a:solidFill>
              </a:rPr>
              <a:t>38 tickets | Resolution target: 4 hours. Used for major outages, suspected data exposure, safety concerns, regulatory risk, or severe financial impact. Critical cases require immediate escalation and frequent customer updates.</a:t>
            </a:r>
            <a:endParaRPr lang="en-US" sz="1060" dirty="0"/>
          </a:p>
        </p:txBody>
      </p:sp>
      <p:sp>
        <p:nvSpPr>
          <p:cNvPr id="13" name="Shape 11"/>
          <p:cNvSpPr/>
          <p:nvPr/>
        </p:nvSpPr>
        <p:spPr>
          <a:xfrm>
            <a:off x="6199632" y="1481328"/>
            <a:ext cx="5349240" cy="1078992"/>
          </a:xfrm>
          <a:prstGeom prst="roundRect">
            <a:avLst>
              <a:gd name="adj" fmla="val 3390"/>
            </a:avLst>
          </a:prstGeom>
          <a:solidFill>
            <a:srgbClr val="FFFFFF"/>
          </a:solidFill>
          <a:ln w="12700">
            <a:solidFill>
              <a:srgbClr val="D5DEE7"/>
            </a:solidFill>
            <a:prstDash val="solid"/>
          </a:ln>
        </p:spPr>
      </p:sp>
      <p:sp>
        <p:nvSpPr>
          <p:cNvPr id="14" name="Shape 12"/>
          <p:cNvSpPr/>
          <p:nvPr/>
        </p:nvSpPr>
        <p:spPr>
          <a:xfrm>
            <a:off x="6199632" y="1481328"/>
            <a:ext cx="73152" cy="1078992"/>
          </a:xfrm>
          <a:prstGeom prst="rect">
            <a:avLst/>
          </a:prstGeom>
          <a:solidFill>
            <a:srgbClr val="E67E22"/>
          </a:solidFill>
          <a:ln w="12700">
            <a:solidFill>
              <a:srgbClr val="E67E22"/>
            </a:solidFill>
            <a:prstDash val="solid"/>
          </a:ln>
        </p:spPr>
      </p:sp>
      <p:sp>
        <p:nvSpPr>
          <p:cNvPr id="15" name="Text 13"/>
          <p:cNvSpPr/>
          <p:nvPr/>
        </p:nvSpPr>
        <p:spPr>
          <a:xfrm>
            <a:off x="6400800" y="1627632"/>
            <a:ext cx="4983480" cy="274320"/>
          </a:xfrm>
          <a:prstGeom prst="rect">
            <a:avLst/>
          </a:prstGeom>
          <a:noFill/>
          <a:ln/>
        </p:spPr>
        <p:txBody>
          <a:bodyPr wrap="square" lIns="0" tIns="0" rIns="0" bIns="0" rtlCol="0" anchor="ctr"/>
          <a:lstStyle/>
          <a:p>
            <a:pPr marL="0" indent="0">
              <a:buNone/>
            </a:pPr>
            <a:r>
              <a:rPr lang="en-US" sz="1300" b="1" dirty="0">
                <a:solidFill>
                  <a:srgbClr val="E67E22"/>
                </a:solidFill>
              </a:rPr>
              <a:t>High Priority</a:t>
            </a:r>
            <a:endParaRPr lang="en-US" sz="1300" dirty="0"/>
          </a:p>
        </p:txBody>
      </p:sp>
      <p:sp>
        <p:nvSpPr>
          <p:cNvPr id="16" name="Text 14"/>
          <p:cNvSpPr/>
          <p:nvPr/>
        </p:nvSpPr>
        <p:spPr>
          <a:xfrm>
            <a:off x="6400800" y="2011680"/>
            <a:ext cx="4965192" cy="420624"/>
          </a:xfrm>
          <a:prstGeom prst="rect">
            <a:avLst/>
          </a:prstGeom>
          <a:noFill/>
          <a:ln/>
        </p:spPr>
        <p:txBody>
          <a:bodyPr wrap="square" lIns="254" tIns="254" rIns="254" bIns="254" rtlCol="0" anchor="t">
            <a:normAutofit/>
          </a:bodyPr>
          <a:lstStyle/>
          <a:p>
            <a:pPr marL="0" indent="0">
              <a:buNone/>
            </a:pPr>
            <a:r>
              <a:rPr lang="en-US" sz="1060" dirty="0">
                <a:solidFill>
                  <a:srgbClr val="25364A"/>
                </a:solidFill>
              </a:rPr>
              <a:t>520 tickets | Resolution target: 8 hours. Used when an important business function is unavailable or severely degraded without an effective workaround. Management visibility is required when target achievement is at risk.</a:t>
            </a:r>
            <a:endParaRPr lang="en-US" sz="1060" dirty="0"/>
          </a:p>
        </p:txBody>
      </p:sp>
      <p:sp>
        <p:nvSpPr>
          <p:cNvPr id="17" name="Shape 15"/>
          <p:cNvSpPr/>
          <p:nvPr/>
        </p:nvSpPr>
        <p:spPr>
          <a:xfrm>
            <a:off x="658368" y="2779776"/>
            <a:ext cx="5349240" cy="1078992"/>
          </a:xfrm>
          <a:prstGeom prst="roundRect">
            <a:avLst>
              <a:gd name="adj" fmla="val 3390"/>
            </a:avLst>
          </a:prstGeom>
          <a:solidFill>
            <a:srgbClr val="FFFFFF"/>
          </a:solidFill>
          <a:ln w="12700">
            <a:solidFill>
              <a:srgbClr val="D5DEE7"/>
            </a:solidFill>
            <a:prstDash val="solid"/>
          </a:ln>
        </p:spPr>
      </p:sp>
      <p:sp>
        <p:nvSpPr>
          <p:cNvPr id="18" name="Shape 16"/>
          <p:cNvSpPr/>
          <p:nvPr/>
        </p:nvSpPr>
        <p:spPr>
          <a:xfrm>
            <a:off x="658368" y="2779776"/>
            <a:ext cx="73152" cy="1078992"/>
          </a:xfrm>
          <a:prstGeom prst="rect">
            <a:avLst/>
          </a:prstGeom>
          <a:solidFill>
            <a:srgbClr val="1A9E98"/>
          </a:solidFill>
          <a:ln w="12700">
            <a:solidFill>
              <a:srgbClr val="1A9E98"/>
            </a:solidFill>
            <a:prstDash val="solid"/>
          </a:ln>
        </p:spPr>
      </p:sp>
      <p:sp>
        <p:nvSpPr>
          <p:cNvPr id="19" name="Text 17"/>
          <p:cNvSpPr/>
          <p:nvPr/>
        </p:nvSpPr>
        <p:spPr>
          <a:xfrm>
            <a:off x="859536" y="2926080"/>
            <a:ext cx="4983480" cy="274320"/>
          </a:xfrm>
          <a:prstGeom prst="rect">
            <a:avLst/>
          </a:prstGeom>
          <a:noFill/>
          <a:ln/>
        </p:spPr>
        <p:txBody>
          <a:bodyPr wrap="square" lIns="0" tIns="0" rIns="0" bIns="0" rtlCol="0" anchor="ctr"/>
          <a:lstStyle/>
          <a:p>
            <a:pPr marL="0" indent="0">
              <a:buNone/>
            </a:pPr>
            <a:r>
              <a:rPr lang="en-US" sz="1300" b="1" dirty="0">
                <a:solidFill>
                  <a:srgbClr val="1A9E98"/>
                </a:solidFill>
              </a:rPr>
              <a:t>Medium Priority</a:t>
            </a:r>
            <a:endParaRPr lang="en-US" sz="1300" dirty="0"/>
          </a:p>
        </p:txBody>
      </p:sp>
      <p:sp>
        <p:nvSpPr>
          <p:cNvPr id="20" name="Text 18"/>
          <p:cNvSpPr/>
          <p:nvPr/>
        </p:nvSpPr>
        <p:spPr>
          <a:xfrm>
            <a:off x="859536" y="3310128"/>
            <a:ext cx="4965192" cy="420624"/>
          </a:xfrm>
          <a:prstGeom prst="rect">
            <a:avLst/>
          </a:prstGeom>
          <a:noFill/>
          <a:ln/>
        </p:spPr>
        <p:txBody>
          <a:bodyPr wrap="square" lIns="254" tIns="254" rIns="254" bIns="254" rtlCol="0" anchor="t">
            <a:normAutofit/>
          </a:bodyPr>
          <a:lstStyle/>
          <a:p>
            <a:pPr marL="0" indent="0">
              <a:buNone/>
            </a:pPr>
            <a:r>
              <a:rPr lang="en-US" sz="1060" dirty="0">
                <a:solidFill>
                  <a:srgbClr val="25364A"/>
                </a:solidFill>
              </a:rPr>
              <a:t>2,240 tickets | Resolution target: 24 hours. Used for service problems where a reasonable workaround is available and the customer can continue operating with limited disruption.</a:t>
            </a:r>
            <a:endParaRPr lang="en-US" sz="1060" dirty="0"/>
          </a:p>
        </p:txBody>
      </p:sp>
      <p:sp>
        <p:nvSpPr>
          <p:cNvPr id="21" name="Shape 19"/>
          <p:cNvSpPr/>
          <p:nvPr/>
        </p:nvSpPr>
        <p:spPr>
          <a:xfrm>
            <a:off x="6199632" y="2779776"/>
            <a:ext cx="5349240" cy="1078992"/>
          </a:xfrm>
          <a:prstGeom prst="roundRect">
            <a:avLst>
              <a:gd name="adj" fmla="val 3390"/>
            </a:avLst>
          </a:prstGeom>
          <a:solidFill>
            <a:srgbClr val="FFFFFF"/>
          </a:solidFill>
          <a:ln w="12700">
            <a:solidFill>
              <a:srgbClr val="D5DEE7"/>
            </a:solidFill>
            <a:prstDash val="solid"/>
          </a:ln>
        </p:spPr>
      </p:sp>
      <p:sp>
        <p:nvSpPr>
          <p:cNvPr id="22" name="Shape 20"/>
          <p:cNvSpPr/>
          <p:nvPr/>
        </p:nvSpPr>
        <p:spPr>
          <a:xfrm>
            <a:off x="6199632" y="2779776"/>
            <a:ext cx="73152" cy="1078992"/>
          </a:xfrm>
          <a:prstGeom prst="rect">
            <a:avLst/>
          </a:prstGeom>
          <a:solidFill>
            <a:srgbClr val="244A73"/>
          </a:solidFill>
          <a:ln w="12700">
            <a:solidFill>
              <a:srgbClr val="244A73"/>
            </a:solidFill>
            <a:prstDash val="solid"/>
          </a:ln>
        </p:spPr>
      </p:sp>
      <p:sp>
        <p:nvSpPr>
          <p:cNvPr id="23" name="Text 21"/>
          <p:cNvSpPr/>
          <p:nvPr/>
        </p:nvSpPr>
        <p:spPr>
          <a:xfrm>
            <a:off x="6400800" y="2926080"/>
            <a:ext cx="4983480" cy="274320"/>
          </a:xfrm>
          <a:prstGeom prst="rect">
            <a:avLst/>
          </a:prstGeom>
          <a:noFill/>
          <a:ln/>
        </p:spPr>
        <p:txBody>
          <a:bodyPr wrap="square" lIns="0" tIns="0" rIns="0" bIns="0" rtlCol="0" anchor="ctr"/>
          <a:lstStyle/>
          <a:p>
            <a:pPr marL="0" indent="0">
              <a:buNone/>
            </a:pPr>
            <a:r>
              <a:rPr lang="en-US" sz="1300" b="1" dirty="0">
                <a:solidFill>
                  <a:srgbClr val="244A73"/>
                </a:solidFill>
              </a:rPr>
              <a:t>Low Priority</a:t>
            </a:r>
            <a:endParaRPr lang="en-US" sz="1300" dirty="0"/>
          </a:p>
        </p:txBody>
      </p:sp>
      <p:sp>
        <p:nvSpPr>
          <p:cNvPr id="24" name="Text 22"/>
          <p:cNvSpPr/>
          <p:nvPr/>
        </p:nvSpPr>
        <p:spPr>
          <a:xfrm>
            <a:off x="6400800" y="3310128"/>
            <a:ext cx="4965192" cy="420624"/>
          </a:xfrm>
          <a:prstGeom prst="rect">
            <a:avLst/>
          </a:prstGeom>
          <a:noFill/>
          <a:ln/>
        </p:spPr>
        <p:txBody>
          <a:bodyPr wrap="square" lIns="254" tIns="254" rIns="254" bIns="254" rtlCol="0" anchor="t">
            <a:normAutofit/>
          </a:bodyPr>
          <a:lstStyle/>
          <a:p>
            <a:pPr marL="0" indent="0">
              <a:buNone/>
            </a:pPr>
            <a:r>
              <a:rPr lang="en-US" sz="1060" dirty="0">
                <a:solidFill>
                  <a:srgbClr val="25364A"/>
                </a:solidFill>
              </a:rPr>
              <a:t>2,052 tickets | Resolution target: 48 hours. Used for general questions, minor inconvenience, information requests, or product enhancement suggestions with limited business impact.</a:t>
            </a:r>
            <a:endParaRPr lang="en-US" sz="1060" dirty="0"/>
          </a:p>
        </p:txBody>
      </p:sp>
      <p:sp>
        <p:nvSpPr>
          <p:cNvPr id="25" name="Shape 23"/>
          <p:cNvSpPr/>
          <p:nvPr/>
        </p:nvSpPr>
        <p:spPr>
          <a:xfrm>
            <a:off x="658368" y="4078224"/>
            <a:ext cx="5349240" cy="1298448"/>
          </a:xfrm>
          <a:prstGeom prst="roundRect">
            <a:avLst>
              <a:gd name="adj" fmla="val 2817"/>
            </a:avLst>
          </a:prstGeom>
          <a:solidFill>
            <a:srgbClr val="FFFFFF"/>
          </a:solidFill>
          <a:ln w="12700">
            <a:solidFill>
              <a:srgbClr val="D5DEE7"/>
            </a:solidFill>
            <a:prstDash val="solid"/>
          </a:ln>
        </p:spPr>
      </p:sp>
      <p:sp>
        <p:nvSpPr>
          <p:cNvPr id="26" name="Shape 24"/>
          <p:cNvSpPr/>
          <p:nvPr/>
        </p:nvSpPr>
        <p:spPr>
          <a:xfrm>
            <a:off x="658368" y="4078224"/>
            <a:ext cx="73152" cy="1298448"/>
          </a:xfrm>
          <a:prstGeom prst="rect">
            <a:avLst/>
          </a:prstGeom>
          <a:solidFill>
            <a:srgbClr val="C0392B"/>
          </a:solidFill>
          <a:ln w="12700">
            <a:solidFill>
              <a:srgbClr val="C0392B"/>
            </a:solidFill>
            <a:prstDash val="solid"/>
          </a:ln>
        </p:spPr>
      </p:sp>
      <p:sp>
        <p:nvSpPr>
          <p:cNvPr id="27" name="Text 25"/>
          <p:cNvSpPr/>
          <p:nvPr/>
        </p:nvSpPr>
        <p:spPr>
          <a:xfrm>
            <a:off x="859536" y="4224528"/>
            <a:ext cx="4983480" cy="274320"/>
          </a:xfrm>
          <a:prstGeom prst="rect">
            <a:avLst/>
          </a:prstGeom>
          <a:noFill/>
          <a:ln/>
        </p:spPr>
        <p:txBody>
          <a:bodyPr wrap="square" lIns="0" tIns="0" rIns="0" bIns="0" rtlCol="0" anchor="ctr"/>
          <a:lstStyle/>
          <a:p>
            <a:pPr marL="0" indent="0">
              <a:buNone/>
            </a:pPr>
            <a:r>
              <a:rPr lang="en-US" sz="1300" b="1" dirty="0">
                <a:solidFill>
                  <a:srgbClr val="C0392B"/>
                </a:solidFill>
              </a:rPr>
              <a:t>Escalation Requirements</a:t>
            </a:r>
            <a:endParaRPr lang="en-US" sz="1300" dirty="0"/>
          </a:p>
        </p:txBody>
      </p:sp>
      <p:sp>
        <p:nvSpPr>
          <p:cNvPr id="28" name="Text 26"/>
          <p:cNvSpPr/>
          <p:nvPr/>
        </p:nvSpPr>
        <p:spPr>
          <a:xfrm>
            <a:off x="859536" y="4608576"/>
            <a:ext cx="4965192" cy="640080"/>
          </a:xfrm>
          <a:prstGeom prst="rect">
            <a:avLst/>
          </a:prstGeom>
          <a:noFill/>
          <a:ln/>
        </p:spPr>
        <p:txBody>
          <a:bodyPr wrap="square" lIns="254" tIns="254" rIns="254" bIns="254" rtlCol="0" anchor="t">
            <a:normAutofit/>
          </a:bodyPr>
          <a:lstStyle/>
          <a:p>
            <a:pPr marL="177800" indent="-177800">
              <a:buSzPct val="100000"/>
              <a:buChar char="•"/>
            </a:pPr>
            <a:r>
              <a:rPr lang="en-US" sz="1030" dirty="0">
                <a:solidFill>
                  <a:srgbClr val="25364A"/>
                </a:solidFill>
              </a:rPr>
              <a:t>Reassess priority whenever impact or urgency changes.</a:t>
            </a:r>
            <a:endParaRPr lang="en-US" sz="1030" dirty="0"/>
          </a:p>
          <a:p>
            <a:pPr marL="177800" indent="-177800">
              <a:buSzPct val="100000"/>
              <a:buChar char="•"/>
            </a:pPr>
            <a:r>
              <a:rPr lang="en-US" sz="1030" dirty="0">
                <a:solidFill>
                  <a:srgbClr val="25364A"/>
                </a:solidFill>
              </a:rPr>
              <a:t>Escalate when the response or resolution target may be missed.</a:t>
            </a:r>
            <a:endParaRPr lang="en-US" sz="1030" dirty="0"/>
          </a:p>
          <a:p>
            <a:pPr marL="177800" indent="-177800">
              <a:buSzPct val="100000"/>
              <a:buChar char="•"/>
            </a:pPr>
            <a:r>
              <a:rPr lang="en-US" sz="1030" dirty="0">
                <a:solidFill>
                  <a:srgbClr val="25364A"/>
                </a:solidFill>
              </a:rPr>
              <a:t>Maintain a single accountable case owner.</a:t>
            </a:r>
            <a:endParaRPr lang="en-US" sz="1030" dirty="0"/>
          </a:p>
          <a:p>
            <a:pPr marL="177800" indent="-177800">
              <a:buSzPct val="100000"/>
              <a:buChar char="•"/>
            </a:pPr>
            <a:r>
              <a:rPr lang="en-US" sz="1030" dirty="0">
                <a:solidFill>
                  <a:srgbClr val="25364A"/>
                </a:solidFill>
              </a:rPr>
              <a:t>Record customer updates and management decisions.</a:t>
            </a:r>
            <a:endParaRPr lang="en-US" sz="1030" dirty="0"/>
          </a:p>
        </p:txBody>
      </p:sp>
      <p:sp>
        <p:nvSpPr>
          <p:cNvPr id="29" name="Shape 27"/>
          <p:cNvSpPr/>
          <p:nvPr/>
        </p:nvSpPr>
        <p:spPr>
          <a:xfrm>
            <a:off x="6199632" y="4078224"/>
            <a:ext cx="5349240" cy="1298448"/>
          </a:xfrm>
          <a:prstGeom prst="roundRect">
            <a:avLst>
              <a:gd name="adj" fmla="val 2817"/>
            </a:avLst>
          </a:prstGeom>
          <a:solidFill>
            <a:srgbClr val="FFFFFF"/>
          </a:solidFill>
          <a:ln w="12700">
            <a:solidFill>
              <a:srgbClr val="D5DEE7"/>
            </a:solidFill>
            <a:prstDash val="solid"/>
          </a:ln>
        </p:spPr>
      </p:sp>
      <p:sp>
        <p:nvSpPr>
          <p:cNvPr id="30" name="Shape 28"/>
          <p:cNvSpPr/>
          <p:nvPr/>
        </p:nvSpPr>
        <p:spPr>
          <a:xfrm>
            <a:off x="6199632" y="4078224"/>
            <a:ext cx="73152" cy="1298448"/>
          </a:xfrm>
          <a:prstGeom prst="rect">
            <a:avLst/>
          </a:prstGeom>
          <a:solidFill>
            <a:srgbClr val="2E8B57"/>
          </a:solidFill>
          <a:ln w="12700">
            <a:solidFill>
              <a:srgbClr val="2E8B57"/>
            </a:solidFill>
            <a:prstDash val="solid"/>
          </a:ln>
        </p:spPr>
      </p:sp>
      <p:sp>
        <p:nvSpPr>
          <p:cNvPr id="31" name="Text 29"/>
          <p:cNvSpPr/>
          <p:nvPr/>
        </p:nvSpPr>
        <p:spPr>
          <a:xfrm>
            <a:off x="6400800" y="4224528"/>
            <a:ext cx="4983480" cy="274320"/>
          </a:xfrm>
          <a:prstGeom prst="rect">
            <a:avLst/>
          </a:prstGeom>
          <a:noFill/>
          <a:ln/>
        </p:spPr>
        <p:txBody>
          <a:bodyPr wrap="square" lIns="0" tIns="0" rIns="0" bIns="0" rtlCol="0" anchor="ctr"/>
          <a:lstStyle/>
          <a:p>
            <a:pPr marL="0" indent="0">
              <a:buNone/>
            </a:pPr>
            <a:r>
              <a:rPr lang="en-US" sz="1300" b="1" dirty="0">
                <a:solidFill>
                  <a:srgbClr val="2E8B57"/>
                </a:solidFill>
              </a:rPr>
              <a:t>Management Finding</a:t>
            </a:r>
            <a:endParaRPr lang="en-US" sz="1300" dirty="0"/>
          </a:p>
        </p:txBody>
      </p:sp>
      <p:sp>
        <p:nvSpPr>
          <p:cNvPr id="32" name="Text 30"/>
          <p:cNvSpPr/>
          <p:nvPr/>
        </p:nvSpPr>
        <p:spPr>
          <a:xfrm>
            <a:off x="6400800" y="4608576"/>
            <a:ext cx="4965192" cy="640080"/>
          </a:xfrm>
          <a:prstGeom prst="rect">
            <a:avLst/>
          </a:prstGeom>
          <a:noFill/>
          <a:ln/>
        </p:spPr>
        <p:txBody>
          <a:bodyPr wrap="square" lIns="254" tIns="254" rIns="254" bIns="254" rtlCol="0" anchor="t">
            <a:normAutofit/>
          </a:bodyPr>
          <a:lstStyle/>
          <a:p>
            <a:pPr marL="0" indent="0">
              <a:buNone/>
            </a:pPr>
            <a:r>
              <a:rPr lang="en-US" sz="1080" dirty="0">
                <a:solidFill>
                  <a:srgbClr val="25364A"/>
                </a:solidFill>
              </a:rPr>
              <a:t>Critical and high-priority tickets represented approximately 11.5% of total demand. Although relatively small in volume, these cases consumed disproportionate specialist and management attention because of tighter targets and higher business impact.</a:t>
            </a:r>
            <a:endParaRPr lang="en-US" sz="10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a:effectLst/>
      </p:bgPr>
    </p:bg>
    <p:spTree>
      <p:nvGrpSpPr>
        <p:cNvPr id="1" name=""/>
        <p:cNvGrpSpPr/>
        <p:nvPr/>
      </p:nvGrpSpPr>
      <p:grpSpPr>
        <a:xfrm>
          <a:off x="0" y="0"/>
          <a:ext cx="1" cy="1"/>
          <a:chOff x="0" y="0"/>
          <a:chExt cx="1" cy="1"/>
        </a:xfrm>
      </p:grpSpPr>
      <p:sp>
        <p:nvSpPr>
          <p:cNvPr id="2" name="Shape 0"/>
          <p:cNvSpPr/>
          <p:nvPr/>
        </p:nvSpPr>
        <p:spPr>
          <a:xfrm>
            <a:off x="0" y="0"/>
            <a:ext cx="12191695" cy="128016"/>
          </a:xfrm>
          <a:prstGeom prst="rect">
            <a:avLst/>
          </a:prstGeom>
          <a:solidFill>
            <a:srgbClr val="1A9E98"/>
          </a:solidFill>
          <a:ln w="12700">
            <a:solidFill>
              <a:srgbClr val="1A9E98"/>
            </a:solidFill>
            <a:prstDash val="solid"/>
          </a:ln>
        </p:spPr>
      </p:sp>
      <p:sp>
        <p:nvSpPr>
          <p:cNvPr id="3" name="Text 1"/>
          <p:cNvSpPr/>
          <p:nvPr/>
        </p:nvSpPr>
        <p:spPr>
          <a:xfrm>
            <a:off x="502920" y="228600"/>
            <a:ext cx="4572000" cy="201168"/>
          </a:xfrm>
          <a:prstGeom prst="rect">
            <a:avLst/>
          </a:prstGeom>
          <a:noFill/>
          <a:ln/>
        </p:spPr>
        <p:txBody>
          <a:bodyPr wrap="square" lIns="0" tIns="0" rIns="0" bIns="0" rtlCol="0" anchor="ctr"/>
          <a:lstStyle/>
          <a:p>
            <a:pPr marL="0" indent="0">
              <a:buNone/>
            </a:pPr>
            <a:r>
              <a:rPr lang="en-US" sz="800" b="1" dirty="0">
                <a:solidFill>
                  <a:srgbClr val="65758B"/>
                </a:solidFill>
              </a:rPr>
              <a:t>NORTHSTAR BUSINESS SERVICES PVT. LTD.</a:t>
            </a:r>
            <a:endParaRPr lang="en-US" sz="800" dirty="0"/>
          </a:p>
        </p:txBody>
      </p:sp>
      <p:sp>
        <p:nvSpPr>
          <p:cNvPr id="4" name="Text 2"/>
          <p:cNvSpPr/>
          <p:nvPr/>
        </p:nvSpPr>
        <p:spPr>
          <a:xfrm>
            <a:off x="9235440" y="228600"/>
            <a:ext cx="2423160" cy="201168"/>
          </a:xfrm>
          <a:prstGeom prst="rect">
            <a:avLst/>
          </a:prstGeom>
          <a:noFill/>
          <a:ln/>
        </p:spPr>
        <p:txBody>
          <a:bodyPr wrap="square" lIns="0" tIns="0" rIns="0" bIns="0" rtlCol="0" anchor="ctr"/>
          <a:lstStyle/>
          <a:p>
            <a:pPr marL="0" indent="0" algn="r">
              <a:buNone/>
            </a:pPr>
            <a:r>
              <a:rPr lang="en-US" sz="800" dirty="0">
                <a:solidFill>
                  <a:srgbClr val="65758B"/>
                </a:solidFill>
              </a:rPr>
              <a:t>SLA Performance</a:t>
            </a:r>
            <a:endParaRPr lang="en-US" sz="800" dirty="0"/>
          </a:p>
        </p:txBody>
      </p:sp>
      <p:sp>
        <p:nvSpPr>
          <p:cNvPr id="5" name="Text 3"/>
          <p:cNvSpPr/>
          <p:nvPr/>
        </p:nvSpPr>
        <p:spPr>
          <a:xfrm>
            <a:off x="566928" y="630936"/>
            <a:ext cx="10881360" cy="438912"/>
          </a:xfrm>
          <a:prstGeom prst="rect">
            <a:avLst/>
          </a:prstGeom>
          <a:noFill/>
          <a:ln/>
        </p:spPr>
        <p:txBody>
          <a:bodyPr wrap="square" lIns="0" tIns="0" rIns="0" bIns="0" rtlCol="0" anchor="ctr"/>
          <a:lstStyle/>
          <a:p>
            <a:pPr marL="0" indent="0">
              <a:buNone/>
            </a:pPr>
            <a:r>
              <a:rPr lang="en-US" sz="2500" b="1" dirty="0">
                <a:solidFill>
                  <a:srgbClr val="17365D"/>
                </a:solidFill>
              </a:rPr>
              <a:t>Service-Level Performance by Support Team</a:t>
            </a:r>
            <a:endParaRPr lang="en-US" sz="2500" dirty="0"/>
          </a:p>
        </p:txBody>
      </p:sp>
      <p:sp>
        <p:nvSpPr>
          <p:cNvPr id="6" name="Text 4"/>
          <p:cNvSpPr/>
          <p:nvPr/>
        </p:nvSpPr>
        <p:spPr>
          <a:xfrm>
            <a:off x="576072" y="1078992"/>
            <a:ext cx="10789920" cy="274320"/>
          </a:xfrm>
          <a:prstGeom prst="rect">
            <a:avLst/>
          </a:prstGeom>
          <a:noFill/>
          <a:ln/>
        </p:spPr>
        <p:txBody>
          <a:bodyPr wrap="square" lIns="0" tIns="0" rIns="0" bIns="0" rtlCol="0" anchor="ctr"/>
          <a:lstStyle/>
          <a:p>
            <a:pPr marL="0" indent="0">
              <a:buNone/>
            </a:pPr>
            <a:r>
              <a:rPr lang="en-US" sz="1050" dirty="0">
                <a:solidFill>
                  <a:srgbClr val="65758B"/>
                </a:solidFill>
              </a:rPr>
              <a:t>Overall compliance exceeded the company target, but two specialist teams remained below expectation.</a:t>
            </a:r>
            <a:endParaRPr lang="en-US" sz="1050" dirty="0"/>
          </a:p>
        </p:txBody>
      </p:sp>
      <p:sp>
        <p:nvSpPr>
          <p:cNvPr id="7" name="Shape 5"/>
          <p:cNvSpPr/>
          <p:nvPr/>
        </p:nvSpPr>
        <p:spPr>
          <a:xfrm>
            <a:off x="566928" y="6437376"/>
            <a:ext cx="11018520" cy="13716"/>
          </a:xfrm>
          <a:prstGeom prst="rect">
            <a:avLst/>
          </a:prstGeom>
          <a:solidFill>
            <a:srgbClr val="D5DEE7"/>
          </a:solidFill>
          <a:ln w="12700">
            <a:solidFill>
              <a:srgbClr val="D5DEE7"/>
            </a:solidFill>
            <a:prstDash val="solid"/>
          </a:ln>
        </p:spPr>
      </p:sp>
      <p:sp>
        <p:nvSpPr>
          <p:cNvPr id="8" name="Text 6"/>
          <p:cNvSpPr/>
          <p:nvPr/>
        </p:nvSpPr>
        <p:spPr>
          <a:xfrm>
            <a:off x="566928" y="6528816"/>
            <a:ext cx="4572000" cy="164592"/>
          </a:xfrm>
          <a:prstGeom prst="rect">
            <a:avLst/>
          </a:prstGeom>
          <a:noFill/>
          <a:ln/>
        </p:spPr>
        <p:txBody>
          <a:bodyPr wrap="square" lIns="0" tIns="0" rIns="0" bIns="0" rtlCol="0" anchor="ctr"/>
          <a:lstStyle/>
          <a:p>
            <a:pPr marL="0" indent="0">
              <a:buNone/>
            </a:pPr>
            <a:r>
              <a:rPr lang="en-US" sz="700" dirty="0">
                <a:solidFill>
                  <a:srgbClr val="65758B"/>
                </a:solidFill>
              </a:rPr>
              <a:t>Internal Use | Reporting period: January to August 2026</a:t>
            </a:r>
            <a:endParaRPr lang="en-US" sz="700" dirty="0"/>
          </a:p>
        </p:txBody>
      </p:sp>
      <p:sp>
        <p:nvSpPr>
          <p:cNvPr id="9" name="Shape 7"/>
          <p:cNvSpPr/>
          <p:nvPr/>
        </p:nvSpPr>
        <p:spPr>
          <a:xfrm>
            <a:off x="658368" y="1481328"/>
            <a:ext cx="3493008" cy="1115568"/>
          </a:xfrm>
          <a:prstGeom prst="roundRect">
            <a:avLst>
              <a:gd name="adj" fmla="val 3279"/>
            </a:avLst>
          </a:prstGeom>
          <a:solidFill>
            <a:srgbClr val="FFFFFF"/>
          </a:solidFill>
          <a:ln w="12700">
            <a:solidFill>
              <a:srgbClr val="D5DEE7"/>
            </a:solidFill>
            <a:prstDash val="solid"/>
          </a:ln>
        </p:spPr>
      </p:sp>
      <p:sp>
        <p:nvSpPr>
          <p:cNvPr id="10" name="Shape 8"/>
          <p:cNvSpPr/>
          <p:nvPr/>
        </p:nvSpPr>
        <p:spPr>
          <a:xfrm>
            <a:off x="658368" y="1481328"/>
            <a:ext cx="73152" cy="1115568"/>
          </a:xfrm>
          <a:prstGeom prst="rect">
            <a:avLst/>
          </a:prstGeom>
          <a:solidFill>
            <a:srgbClr val="2E8B57"/>
          </a:solidFill>
          <a:ln w="12700">
            <a:solidFill>
              <a:srgbClr val="2E8B57"/>
            </a:solidFill>
            <a:prstDash val="solid"/>
          </a:ln>
        </p:spPr>
      </p:sp>
      <p:sp>
        <p:nvSpPr>
          <p:cNvPr id="11" name="Text 9"/>
          <p:cNvSpPr/>
          <p:nvPr/>
        </p:nvSpPr>
        <p:spPr>
          <a:xfrm>
            <a:off x="859536" y="1627632"/>
            <a:ext cx="3127248" cy="274320"/>
          </a:xfrm>
          <a:prstGeom prst="rect">
            <a:avLst/>
          </a:prstGeom>
          <a:noFill/>
          <a:ln/>
        </p:spPr>
        <p:txBody>
          <a:bodyPr wrap="square" lIns="0" tIns="0" rIns="0" bIns="0" rtlCol="0" anchor="ctr"/>
          <a:lstStyle/>
          <a:p>
            <a:pPr marL="0" indent="0">
              <a:buNone/>
            </a:pPr>
            <a:r>
              <a:rPr lang="en-US" sz="1300" b="1" dirty="0">
                <a:solidFill>
                  <a:srgbClr val="2E8B57"/>
                </a:solidFill>
              </a:rPr>
              <a:t>General Support</a:t>
            </a:r>
            <a:endParaRPr lang="en-US" sz="1300" dirty="0"/>
          </a:p>
        </p:txBody>
      </p:sp>
      <p:sp>
        <p:nvSpPr>
          <p:cNvPr id="12" name="Text 10"/>
          <p:cNvSpPr/>
          <p:nvPr/>
        </p:nvSpPr>
        <p:spPr>
          <a:xfrm>
            <a:off x="859536" y="2011680"/>
            <a:ext cx="3108960" cy="457200"/>
          </a:xfrm>
          <a:prstGeom prst="rect">
            <a:avLst/>
          </a:prstGeom>
          <a:noFill/>
          <a:ln/>
        </p:spPr>
        <p:txBody>
          <a:bodyPr wrap="square" lIns="254" tIns="254" rIns="254" bIns="254" rtlCol="0" anchor="t">
            <a:normAutofit/>
          </a:bodyPr>
          <a:lstStyle/>
          <a:p>
            <a:pPr marL="0" indent="0">
              <a:buNone/>
            </a:pPr>
            <a:r>
              <a:rPr lang="en-US" sz="1060" dirty="0">
                <a:solidFill>
                  <a:srgbClr val="25364A"/>
                </a:solidFill>
              </a:rPr>
              <a:t>SLA compliance: 97%</a:t>
            </a:r>
            <a:endParaRPr lang="en-US" sz="1060" dirty="0"/>
          </a:p>
          <a:p>
            <a:pPr marL="0" indent="0">
              <a:buNone/>
            </a:pPr>
            <a:r>
              <a:rPr lang="en-US" sz="1060" dirty="0">
                <a:solidFill>
                  <a:srgbClr val="25364A"/>
                </a:solidFill>
              </a:rPr>
              <a:t>The team achieved the strongest SLA result and resolved routine enquiries efficiently. Clear procedures and lower case complexity supported consistent performance.</a:t>
            </a:r>
            <a:endParaRPr lang="en-US" sz="1060" dirty="0"/>
          </a:p>
        </p:txBody>
      </p:sp>
      <p:sp>
        <p:nvSpPr>
          <p:cNvPr id="13" name="Shape 11"/>
          <p:cNvSpPr/>
          <p:nvPr/>
        </p:nvSpPr>
        <p:spPr>
          <a:xfrm>
            <a:off x="4352544" y="1481328"/>
            <a:ext cx="3493008" cy="1115568"/>
          </a:xfrm>
          <a:prstGeom prst="roundRect">
            <a:avLst>
              <a:gd name="adj" fmla="val 3279"/>
            </a:avLst>
          </a:prstGeom>
          <a:solidFill>
            <a:srgbClr val="FFFFFF"/>
          </a:solidFill>
          <a:ln w="12700">
            <a:solidFill>
              <a:srgbClr val="D5DEE7"/>
            </a:solidFill>
            <a:prstDash val="solid"/>
          </a:ln>
        </p:spPr>
      </p:sp>
      <p:sp>
        <p:nvSpPr>
          <p:cNvPr id="14" name="Shape 12"/>
          <p:cNvSpPr/>
          <p:nvPr/>
        </p:nvSpPr>
        <p:spPr>
          <a:xfrm>
            <a:off x="4352544" y="1481328"/>
            <a:ext cx="73152" cy="1115568"/>
          </a:xfrm>
          <a:prstGeom prst="rect">
            <a:avLst/>
          </a:prstGeom>
          <a:solidFill>
            <a:srgbClr val="2E8B57"/>
          </a:solidFill>
          <a:ln w="12700">
            <a:solidFill>
              <a:srgbClr val="2E8B57"/>
            </a:solidFill>
            <a:prstDash val="solid"/>
          </a:ln>
        </p:spPr>
      </p:sp>
      <p:sp>
        <p:nvSpPr>
          <p:cNvPr id="15" name="Text 13"/>
          <p:cNvSpPr/>
          <p:nvPr/>
        </p:nvSpPr>
        <p:spPr>
          <a:xfrm>
            <a:off x="4553712" y="1627632"/>
            <a:ext cx="3127248" cy="274320"/>
          </a:xfrm>
          <a:prstGeom prst="rect">
            <a:avLst/>
          </a:prstGeom>
          <a:noFill/>
          <a:ln/>
        </p:spPr>
        <p:txBody>
          <a:bodyPr wrap="square" lIns="0" tIns="0" rIns="0" bIns="0" rtlCol="0" anchor="ctr"/>
          <a:lstStyle/>
          <a:p>
            <a:pPr marL="0" indent="0">
              <a:buNone/>
            </a:pPr>
            <a:r>
              <a:rPr lang="en-US" sz="1300" b="1" dirty="0">
                <a:solidFill>
                  <a:srgbClr val="2E8B57"/>
                </a:solidFill>
              </a:rPr>
              <a:t>Account Support</a:t>
            </a:r>
            <a:endParaRPr lang="en-US" sz="1300" dirty="0"/>
          </a:p>
        </p:txBody>
      </p:sp>
      <p:sp>
        <p:nvSpPr>
          <p:cNvPr id="16" name="Text 14"/>
          <p:cNvSpPr/>
          <p:nvPr/>
        </p:nvSpPr>
        <p:spPr>
          <a:xfrm>
            <a:off x="4553712" y="2011680"/>
            <a:ext cx="3108960" cy="457200"/>
          </a:xfrm>
          <a:prstGeom prst="rect">
            <a:avLst/>
          </a:prstGeom>
          <a:noFill/>
          <a:ln/>
        </p:spPr>
        <p:txBody>
          <a:bodyPr wrap="square" lIns="254" tIns="254" rIns="254" bIns="254" rtlCol="0" anchor="t">
            <a:normAutofit/>
          </a:bodyPr>
          <a:lstStyle/>
          <a:p>
            <a:pPr marL="0" indent="0">
              <a:buNone/>
            </a:pPr>
            <a:r>
              <a:rPr lang="en-US" sz="1060" dirty="0">
                <a:solidFill>
                  <a:srgbClr val="25364A"/>
                </a:solidFill>
              </a:rPr>
              <a:t>SLA compliance: 96%</a:t>
            </a:r>
            <a:endParaRPr lang="en-US" sz="1060" dirty="0"/>
          </a:p>
          <a:p>
            <a:pPr marL="0" indent="0">
              <a:buNone/>
            </a:pPr>
            <a:r>
              <a:rPr lang="en-US" sz="1060" dirty="0">
                <a:solidFill>
                  <a:srgbClr val="25364A"/>
                </a:solidFill>
              </a:rPr>
              <a:t>The team performed strongly across access administration, profile updates, and account-maintenance requests.</a:t>
            </a:r>
            <a:endParaRPr lang="en-US" sz="1060" dirty="0"/>
          </a:p>
        </p:txBody>
      </p:sp>
      <p:sp>
        <p:nvSpPr>
          <p:cNvPr id="17" name="Shape 15"/>
          <p:cNvSpPr/>
          <p:nvPr/>
        </p:nvSpPr>
        <p:spPr>
          <a:xfrm>
            <a:off x="8046720" y="1481328"/>
            <a:ext cx="3493008" cy="1115568"/>
          </a:xfrm>
          <a:prstGeom prst="roundRect">
            <a:avLst>
              <a:gd name="adj" fmla="val 3279"/>
            </a:avLst>
          </a:prstGeom>
          <a:solidFill>
            <a:srgbClr val="FFFFFF"/>
          </a:solidFill>
          <a:ln w="12700">
            <a:solidFill>
              <a:srgbClr val="D5DEE7"/>
            </a:solidFill>
            <a:prstDash val="solid"/>
          </a:ln>
        </p:spPr>
      </p:sp>
      <p:sp>
        <p:nvSpPr>
          <p:cNvPr id="18" name="Shape 16"/>
          <p:cNvSpPr/>
          <p:nvPr/>
        </p:nvSpPr>
        <p:spPr>
          <a:xfrm>
            <a:off x="8046720" y="1481328"/>
            <a:ext cx="73152" cy="1115568"/>
          </a:xfrm>
          <a:prstGeom prst="rect">
            <a:avLst/>
          </a:prstGeom>
          <a:solidFill>
            <a:srgbClr val="1A9E98"/>
          </a:solidFill>
          <a:ln w="12700">
            <a:solidFill>
              <a:srgbClr val="1A9E98"/>
            </a:solidFill>
            <a:prstDash val="solid"/>
          </a:ln>
        </p:spPr>
      </p:sp>
      <p:sp>
        <p:nvSpPr>
          <p:cNvPr id="19" name="Text 17"/>
          <p:cNvSpPr/>
          <p:nvPr/>
        </p:nvSpPr>
        <p:spPr>
          <a:xfrm>
            <a:off x="8247888" y="1627632"/>
            <a:ext cx="3127248" cy="274320"/>
          </a:xfrm>
          <a:prstGeom prst="rect">
            <a:avLst/>
          </a:prstGeom>
          <a:noFill/>
          <a:ln/>
        </p:spPr>
        <p:txBody>
          <a:bodyPr wrap="square" lIns="0" tIns="0" rIns="0" bIns="0" rtlCol="0" anchor="ctr"/>
          <a:lstStyle/>
          <a:p>
            <a:pPr marL="0" indent="0">
              <a:buNone/>
            </a:pPr>
            <a:r>
              <a:rPr lang="en-US" sz="1300" b="1" dirty="0">
                <a:solidFill>
                  <a:srgbClr val="1A9E98"/>
                </a:solidFill>
              </a:rPr>
              <a:t>Billing Support</a:t>
            </a:r>
            <a:endParaRPr lang="en-US" sz="1300" dirty="0"/>
          </a:p>
        </p:txBody>
      </p:sp>
      <p:sp>
        <p:nvSpPr>
          <p:cNvPr id="20" name="Text 18"/>
          <p:cNvSpPr/>
          <p:nvPr/>
        </p:nvSpPr>
        <p:spPr>
          <a:xfrm>
            <a:off x="8247888" y="2011680"/>
            <a:ext cx="3108960" cy="457200"/>
          </a:xfrm>
          <a:prstGeom prst="rect">
            <a:avLst/>
          </a:prstGeom>
          <a:noFill/>
          <a:ln/>
        </p:spPr>
        <p:txBody>
          <a:bodyPr wrap="square" lIns="254" tIns="254" rIns="254" bIns="254" rtlCol="0" anchor="t">
            <a:normAutofit/>
          </a:bodyPr>
          <a:lstStyle/>
          <a:p>
            <a:pPr marL="0" indent="0">
              <a:buNone/>
            </a:pPr>
            <a:r>
              <a:rPr lang="en-US" sz="1060" dirty="0">
                <a:solidFill>
                  <a:srgbClr val="25364A"/>
                </a:solidFill>
              </a:rPr>
              <a:t>SLA compliance: 93%</a:t>
            </a:r>
            <a:endParaRPr lang="en-US" sz="1060" dirty="0"/>
          </a:p>
          <a:p>
            <a:pPr marL="0" indent="0">
              <a:buNone/>
            </a:pPr>
            <a:r>
              <a:rPr lang="en-US" sz="1060" dirty="0">
                <a:solidFill>
                  <a:srgbClr val="25364A"/>
                </a:solidFill>
              </a:rPr>
              <a:t>Performance remained above target, although payment incidents temporarily increased workload and customer follow-up requirements.</a:t>
            </a:r>
            <a:endParaRPr lang="en-US" sz="1060" dirty="0"/>
          </a:p>
        </p:txBody>
      </p:sp>
      <p:sp>
        <p:nvSpPr>
          <p:cNvPr id="21" name="Shape 19"/>
          <p:cNvSpPr/>
          <p:nvPr/>
        </p:nvSpPr>
        <p:spPr>
          <a:xfrm>
            <a:off x="658368" y="2862072"/>
            <a:ext cx="5349240" cy="1298448"/>
          </a:xfrm>
          <a:prstGeom prst="roundRect">
            <a:avLst>
              <a:gd name="adj" fmla="val 2817"/>
            </a:avLst>
          </a:prstGeom>
          <a:solidFill>
            <a:srgbClr val="FFFFFF"/>
          </a:solidFill>
          <a:ln w="12700">
            <a:solidFill>
              <a:srgbClr val="D5DEE7"/>
            </a:solidFill>
            <a:prstDash val="solid"/>
          </a:ln>
        </p:spPr>
      </p:sp>
      <p:sp>
        <p:nvSpPr>
          <p:cNvPr id="22" name="Shape 20"/>
          <p:cNvSpPr/>
          <p:nvPr/>
        </p:nvSpPr>
        <p:spPr>
          <a:xfrm>
            <a:off x="658368" y="2862072"/>
            <a:ext cx="73152" cy="1298448"/>
          </a:xfrm>
          <a:prstGeom prst="rect">
            <a:avLst/>
          </a:prstGeom>
          <a:solidFill>
            <a:srgbClr val="E67E22"/>
          </a:solidFill>
          <a:ln w="12700">
            <a:solidFill>
              <a:srgbClr val="E67E22"/>
            </a:solidFill>
            <a:prstDash val="solid"/>
          </a:ln>
        </p:spPr>
      </p:sp>
      <p:sp>
        <p:nvSpPr>
          <p:cNvPr id="23" name="Text 21"/>
          <p:cNvSpPr/>
          <p:nvPr/>
        </p:nvSpPr>
        <p:spPr>
          <a:xfrm>
            <a:off x="859536" y="3008376"/>
            <a:ext cx="4983480" cy="274320"/>
          </a:xfrm>
          <a:prstGeom prst="rect">
            <a:avLst/>
          </a:prstGeom>
          <a:noFill/>
          <a:ln/>
        </p:spPr>
        <p:txBody>
          <a:bodyPr wrap="square" lIns="0" tIns="0" rIns="0" bIns="0" rtlCol="0" anchor="ctr"/>
          <a:lstStyle/>
          <a:p>
            <a:pPr marL="0" indent="0">
              <a:buNone/>
            </a:pPr>
            <a:r>
              <a:rPr lang="en-US" sz="1300" b="1" dirty="0">
                <a:solidFill>
                  <a:srgbClr val="E67E22"/>
                </a:solidFill>
              </a:rPr>
              <a:t>Connectivity Support: 89%</a:t>
            </a:r>
            <a:endParaRPr lang="en-US" sz="1300" dirty="0"/>
          </a:p>
        </p:txBody>
      </p:sp>
      <p:sp>
        <p:nvSpPr>
          <p:cNvPr id="24" name="Text 22"/>
          <p:cNvSpPr/>
          <p:nvPr/>
        </p:nvSpPr>
        <p:spPr>
          <a:xfrm>
            <a:off x="859536" y="3392424"/>
            <a:ext cx="4965192" cy="640080"/>
          </a:xfrm>
          <a:prstGeom prst="rect">
            <a:avLst/>
          </a:prstGeom>
          <a:noFill/>
          <a:ln/>
        </p:spPr>
        <p:txBody>
          <a:bodyPr wrap="square" lIns="254" tIns="254" rIns="254" bIns="254" rtlCol="0" anchor="t">
            <a:normAutofit/>
          </a:bodyPr>
          <a:lstStyle/>
          <a:p>
            <a:pPr marL="177800" indent="-177800">
              <a:buSzPct val="100000"/>
              <a:buChar char="•"/>
            </a:pPr>
            <a:r>
              <a:rPr lang="en-US" sz="1060" dirty="0">
                <a:solidFill>
                  <a:srgbClr val="25364A"/>
                </a:solidFill>
              </a:rPr>
              <a:t>Performance finished one percentage point below target.</a:t>
            </a:r>
            <a:endParaRPr lang="en-US" sz="1060" dirty="0"/>
          </a:p>
          <a:p>
            <a:pPr marL="177800" indent="-177800">
              <a:buSzPct val="100000"/>
              <a:buChar char="•"/>
            </a:pPr>
            <a:r>
              <a:rPr lang="en-US" sz="1060" dirty="0">
                <a:solidFill>
                  <a:srgbClr val="25364A"/>
                </a:solidFill>
              </a:rPr>
              <a:t>External provider dependency increased resolution time.</a:t>
            </a:r>
            <a:endParaRPr lang="en-US" sz="1060" dirty="0"/>
          </a:p>
          <a:p>
            <a:pPr marL="177800" indent="-177800">
              <a:buSzPct val="100000"/>
              <a:buChar char="•"/>
            </a:pPr>
            <a:r>
              <a:rPr lang="en-US" sz="1060" dirty="0">
                <a:solidFill>
                  <a:srgbClr val="25364A"/>
                </a:solidFill>
              </a:rPr>
              <a:t>The August regional disruption created concentrated demand.</a:t>
            </a:r>
            <a:endParaRPr lang="en-US" sz="1060" dirty="0"/>
          </a:p>
          <a:p>
            <a:pPr marL="177800" indent="-177800">
              <a:buSzPct val="100000"/>
              <a:buChar char="•"/>
            </a:pPr>
            <a:r>
              <a:rPr lang="en-US" sz="1060" dirty="0">
                <a:solidFill>
                  <a:srgbClr val="25364A"/>
                </a:solidFill>
              </a:rPr>
              <a:t>Weekend specialist coverage was insufficient.</a:t>
            </a:r>
            <a:endParaRPr lang="en-US" sz="1060" dirty="0"/>
          </a:p>
        </p:txBody>
      </p:sp>
      <p:sp>
        <p:nvSpPr>
          <p:cNvPr id="25" name="Shape 23"/>
          <p:cNvSpPr/>
          <p:nvPr/>
        </p:nvSpPr>
        <p:spPr>
          <a:xfrm>
            <a:off x="6199632" y="2862072"/>
            <a:ext cx="5349240" cy="1298448"/>
          </a:xfrm>
          <a:prstGeom prst="roundRect">
            <a:avLst>
              <a:gd name="adj" fmla="val 2817"/>
            </a:avLst>
          </a:prstGeom>
          <a:solidFill>
            <a:srgbClr val="FFFFFF"/>
          </a:solidFill>
          <a:ln w="12700">
            <a:solidFill>
              <a:srgbClr val="D5DEE7"/>
            </a:solidFill>
            <a:prstDash val="solid"/>
          </a:ln>
        </p:spPr>
      </p:sp>
      <p:sp>
        <p:nvSpPr>
          <p:cNvPr id="26" name="Shape 24"/>
          <p:cNvSpPr/>
          <p:nvPr/>
        </p:nvSpPr>
        <p:spPr>
          <a:xfrm>
            <a:off x="6199632" y="2862072"/>
            <a:ext cx="73152" cy="1298448"/>
          </a:xfrm>
          <a:prstGeom prst="rect">
            <a:avLst/>
          </a:prstGeom>
          <a:solidFill>
            <a:srgbClr val="C0392B"/>
          </a:solidFill>
          <a:ln w="12700">
            <a:solidFill>
              <a:srgbClr val="C0392B"/>
            </a:solidFill>
            <a:prstDash val="solid"/>
          </a:ln>
        </p:spPr>
      </p:sp>
      <p:sp>
        <p:nvSpPr>
          <p:cNvPr id="27" name="Text 25"/>
          <p:cNvSpPr/>
          <p:nvPr/>
        </p:nvSpPr>
        <p:spPr>
          <a:xfrm>
            <a:off x="6400800" y="3008376"/>
            <a:ext cx="4983480" cy="274320"/>
          </a:xfrm>
          <a:prstGeom prst="rect">
            <a:avLst/>
          </a:prstGeom>
          <a:noFill/>
          <a:ln/>
        </p:spPr>
        <p:txBody>
          <a:bodyPr wrap="square" lIns="0" tIns="0" rIns="0" bIns="0" rtlCol="0" anchor="ctr"/>
          <a:lstStyle/>
          <a:p>
            <a:pPr marL="0" indent="0">
              <a:buNone/>
            </a:pPr>
            <a:r>
              <a:rPr lang="en-US" sz="1300" b="1" dirty="0">
                <a:solidFill>
                  <a:srgbClr val="C0392B"/>
                </a:solidFill>
              </a:rPr>
              <a:t>Technical Support: 86%</a:t>
            </a:r>
            <a:endParaRPr lang="en-US" sz="1300" dirty="0"/>
          </a:p>
        </p:txBody>
      </p:sp>
      <p:sp>
        <p:nvSpPr>
          <p:cNvPr id="28" name="Text 26"/>
          <p:cNvSpPr/>
          <p:nvPr/>
        </p:nvSpPr>
        <p:spPr>
          <a:xfrm>
            <a:off x="6400800" y="3392424"/>
            <a:ext cx="4965192" cy="640080"/>
          </a:xfrm>
          <a:prstGeom prst="rect">
            <a:avLst/>
          </a:prstGeom>
          <a:noFill/>
          <a:ln/>
        </p:spPr>
        <p:txBody>
          <a:bodyPr wrap="square" lIns="254" tIns="254" rIns="254" bIns="254" rtlCol="0" anchor="t">
            <a:normAutofit/>
          </a:bodyPr>
          <a:lstStyle/>
          <a:p>
            <a:pPr marL="177800" indent="-177800">
              <a:buSzPct val="100000"/>
              <a:buChar char="•"/>
            </a:pPr>
            <a:r>
              <a:rPr lang="en-US" sz="1060" dirty="0">
                <a:solidFill>
                  <a:srgbClr val="25364A"/>
                </a:solidFill>
              </a:rPr>
              <a:t>Performance finished four percentage points below target.</a:t>
            </a:r>
            <a:endParaRPr lang="en-US" sz="1060" dirty="0"/>
          </a:p>
          <a:p>
            <a:pPr marL="177800" indent="-177800">
              <a:buSzPct val="100000"/>
              <a:buChar char="•"/>
            </a:pPr>
            <a:r>
              <a:rPr lang="en-US" sz="1060" dirty="0">
                <a:solidFill>
                  <a:srgbClr val="25364A"/>
                </a:solidFill>
              </a:rPr>
              <a:t>Complex investigations required specialist participation.</a:t>
            </a:r>
            <a:endParaRPr lang="en-US" sz="1060" dirty="0"/>
          </a:p>
          <a:p>
            <a:pPr marL="177800" indent="-177800">
              <a:buSzPct val="100000"/>
              <a:buChar char="•"/>
            </a:pPr>
            <a:r>
              <a:rPr lang="en-US" sz="1060" dirty="0">
                <a:solidFill>
                  <a:srgbClr val="25364A"/>
                </a:solidFill>
              </a:rPr>
              <a:t>Authentication and data-migration problems extended case duration.</a:t>
            </a:r>
            <a:endParaRPr lang="en-US" sz="1060" dirty="0"/>
          </a:p>
          <a:p>
            <a:pPr marL="177800" indent="-177800">
              <a:buSzPct val="100000"/>
              <a:buChar char="•"/>
            </a:pPr>
            <a:r>
              <a:rPr lang="en-US" sz="1060" dirty="0">
                <a:solidFill>
                  <a:srgbClr val="25364A"/>
                </a:solidFill>
              </a:rPr>
              <a:t>High workload created a growing unresolved-ticket backlog.</a:t>
            </a:r>
            <a:endParaRPr lang="en-US" sz="1060" dirty="0"/>
          </a:p>
        </p:txBody>
      </p:sp>
      <p:sp>
        <p:nvSpPr>
          <p:cNvPr id="29" name="Shape 27"/>
          <p:cNvSpPr/>
          <p:nvPr/>
        </p:nvSpPr>
        <p:spPr>
          <a:xfrm>
            <a:off x="658368" y="4434840"/>
            <a:ext cx="10890504" cy="1024128"/>
          </a:xfrm>
          <a:prstGeom prst="roundRect">
            <a:avLst>
              <a:gd name="adj" fmla="val 3571"/>
            </a:avLst>
          </a:prstGeom>
          <a:solidFill>
            <a:srgbClr val="FFFFFF"/>
          </a:solidFill>
          <a:ln w="12700">
            <a:solidFill>
              <a:srgbClr val="D5DEE7"/>
            </a:solidFill>
            <a:prstDash val="solid"/>
          </a:ln>
        </p:spPr>
      </p:sp>
      <p:sp>
        <p:nvSpPr>
          <p:cNvPr id="30" name="Shape 28"/>
          <p:cNvSpPr/>
          <p:nvPr/>
        </p:nvSpPr>
        <p:spPr>
          <a:xfrm>
            <a:off x="658368" y="4434840"/>
            <a:ext cx="73152" cy="1024128"/>
          </a:xfrm>
          <a:prstGeom prst="rect">
            <a:avLst/>
          </a:prstGeom>
          <a:solidFill>
            <a:srgbClr val="244A73"/>
          </a:solidFill>
          <a:ln w="12700">
            <a:solidFill>
              <a:srgbClr val="244A73"/>
            </a:solidFill>
            <a:prstDash val="solid"/>
          </a:ln>
        </p:spPr>
      </p:sp>
      <p:sp>
        <p:nvSpPr>
          <p:cNvPr id="31" name="Text 29"/>
          <p:cNvSpPr/>
          <p:nvPr/>
        </p:nvSpPr>
        <p:spPr>
          <a:xfrm>
            <a:off x="859536" y="4581144"/>
            <a:ext cx="10524744" cy="274320"/>
          </a:xfrm>
          <a:prstGeom prst="rect">
            <a:avLst/>
          </a:prstGeom>
          <a:noFill/>
          <a:ln/>
        </p:spPr>
        <p:txBody>
          <a:bodyPr wrap="square" lIns="0" tIns="0" rIns="0" bIns="0" rtlCol="0" anchor="ctr"/>
          <a:lstStyle/>
          <a:p>
            <a:pPr marL="0" indent="0">
              <a:buNone/>
            </a:pPr>
            <a:r>
              <a:rPr lang="en-US" sz="1300" b="1" dirty="0">
                <a:solidFill>
                  <a:srgbClr val="244A73"/>
                </a:solidFill>
              </a:rPr>
              <a:t>Corrective Direction</a:t>
            </a:r>
            <a:endParaRPr lang="en-US" sz="1300" dirty="0"/>
          </a:p>
        </p:txBody>
      </p:sp>
      <p:sp>
        <p:nvSpPr>
          <p:cNvPr id="32" name="Text 30"/>
          <p:cNvSpPr/>
          <p:nvPr/>
        </p:nvSpPr>
        <p:spPr>
          <a:xfrm>
            <a:off x="859536" y="4965192"/>
            <a:ext cx="10506456" cy="365760"/>
          </a:xfrm>
          <a:prstGeom prst="rect">
            <a:avLst/>
          </a:prstGeom>
          <a:noFill/>
          <a:ln/>
        </p:spPr>
        <p:txBody>
          <a:bodyPr wrap="square" lIns="254" tIns="254" rIns="254" bIns="254" rtlCol="0" anchor="t">
            <a:normAutofit/>
          </a:bodyPr>
          <a:lstStyle/>
          <a:p>
            <a:pPr marL="0" indent="0">
              <a:buNone/>
            </a:pPr>
            <a:r>
              <a:rPr lang="en-US" sz="1120" dirty="0">
                <a:solidFill>
                  <a:srgbClr val="25364A"/>
                </a:solidFill>
              </a:rPr>
              <a:t>Management should prioritize specialist recruitment, skills development, improved diagnostic tooling, earlier engineering involvement, and clearer escalation thresholds. Weekly backlog reviews should focus on ageing high-priority tickets and cases waiting for specialist input.</a:t>
            </a:r>
            <a:endParaRPr lang="en-US" sz="1120" dirty="0"/>
          </a:p>
        </p:txBody>
      </p:sp>
      <p:sp>
        <p:nvSpPr>
          <p:cNvPr id="33" name="Shape 31"/>
          <p:cNvSpPr/>
          <p:nvPr/>
        </p:nvSpPr>
        <p:spPr>
          <a:xfrm>
            <a:off x="658368" y="5888736"/>
            <a:ext cx="10881360" cy="411480"/>
          </a:xfrm>
          <a:prstGeom prst="roundRect">
            <a:avLst>
              <a:gd name="adj" fmla="val 6667"/>
            </a:avLst>
          </a:prstGeom>
          <a:solidFill>
            <a:srgbClr val="E7F4F3"/>
          </a:solidFill>
          <a:ln w="12700">
            <a:solidFill>
              <a:srgbClr val="B8DCD9"/>
            </a:solidFill>
            <a:prstDash val="solid"/>
          </a:ln>
        </p:spPr>
      </p:sp>
      <p:sp>
        <p:nvSpPr>
          <p:cNvPr id="34" name="Text 32"/>
          <p:cNvSpPr/>
          <p:nvPr/>
        </p:nvSpPr>
        <p:spPr>
          <a:xfrm>
            <a:off x="822960" y="5998464"/>
            <a:ext cx="10515600" cy="164592"/>
          </a:xfrm>
          <a:prstGeom prst="rect">
            <a:avLst/>
          </a:prstGeom>
          <a:noFill/>
          <a:ln/>
        </p:spPr>
        <p:txBody>
          <a:bodyPr wrap="square" lIns="0" tIns="0" rIns="0" bIns="0" rtlCol="0" anchor="ctr"/>
          <a:lstStyle/>
          <a:p>
            <a:pPr marL="0" indent="0" algn="ctr">
              <a:buNone/>
            </a:pPr>
            <a:r>
              <a:rPr lang="en-US" sz="950" b="1" dirty="0">
                <a:solidFill>
                  <a:srgbClr val="244A73"/>
                </a:solidFill>
              </a:rPr>
              <a:t>Company SLA target: 90%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B"/>
        </a:solidFill>
        <a:effectLst/>
      </p:bgPr>
    </p:bg>
    <p:spTree>
      <p:nvGrpSpPr>
        <p:cNvPr id="1" name=""/>
        <p:cNvGrpSpPr/>
        <p:nvPr/>
      </p:nvGrpSpPr>
      <p:grpSpPr>
        <a:xfrm>
          <a:off x="0" y="0"/>
          <a:ext cx="1" cy="1"/>
          <a:chOff x="0" y="0"/>
          <a:chExt cx="1" cy="1"/>
        </a:xfrm>
      </p:grpSpPr>
      <p:sp>
        <p:nvSpPr>
          <p:cNvPr id="2" name="Shape 0"/>
          <p:cNvSpPr/>
          <p:nvPr/>
        </p:nvSpPr>
        <p:spPr>
          <a:xfrm>
            <a:off x="0" y="0"/>
            <a:ext cx="12191695" cy="128016"/>
          </a:xfrm>
          <a:prstGeom prst="rect">
            <a:avLst/>
          </a:prstGeom>
          <a:solidFill>
            <a:srgbClr val="1A9E98"/>
          </a:solidFill>
          <a:ln w="12700">
            <a:solidFill>
              <a:srgbClr val="1A9E98"/>
            </a:solidFill>
            <a:prstDash val="solid"/>
          </a:ln>
        </p:spPr>
      </p:sp>
      <p:sp>
        <p:nvSpPr>
          <p:cNvPr id="3" name="Text 1"/>
          <p:cNvSpPr/>
          <p:nvPr/>
        </p:nvSpPr>
        <p:spPr>
          <a:xfrm>
            <a:off x="502920" y="228600"/>
            <a:ext cx="4572000" cy="201168"/>
          </a:xfrm>
          <a:prstGeom prst="rect">
            <a:avLst/>
          </a:prstGeom>
          <a:noFill/>
          <a:ln/>
        </p:spPr>
        <p:txBody>
          <a:bodyPr wrap="square" lIns="0" tIns="0" rIns="0" bIns="0" rtlCol="0" anchor="ctr"/>
          <a:lstStyle/>
          <a:p>
            <a:pPr marL="0" indent="0">
              <a:buNone/>
            </a:pPr>
            <a:r>
              <a:rPr lang="en-US" sz="800" b="1" dirty="0">
                <a:solidFill>
                  <a:srgbClr val="65758B"/>
                </a:solidFill>
              </a:rPr>
              <a:t>NORTHSTAR BUSINESS SERVICES PVT. LTD.</a:t>
            </a:r>
            <a:endParaRPr lang="en-US" sz="800" dirty="0"/>
          </a:p>
        </p:txBody>
      </p:sp>
      <p:sp>
        <p:nvSpPr>
          <p:cNvPr id="4" name="Text 2"/>
          <p:cNvSpPr/>
          <p:nvPr/>
        </p:nvSpPr>
        <p:spPr>
          <a:xfrm>
            <a:off x="9235440" y="228600"/>
            <a:ext cx="2423160" cy="201168"/>
          </a:xfrm>
          <a:prstGeom prst="rect">
            <a:avLst/>
          </a:prstGeom>
          <a:noFill/>
          <a:ln/>
        </p:spPr>
        <p:txBody>
          <a:bodyPr wrap="square" lIns="0" tIns="0" rIns="0" bIns="0" rtlCol="0" anchor="ctr"/>
          <a:lstStyle/>
          <a:p>
            <a:pPr marL="0" indent="0" algn="r">
              <a:buNone/>
            </a:pPr>
            <a:r>
              <a:rPr lang="en-US" sz="800" dirty="0">
                <a:solidFill>
                  <a:srgbClr val="65758B"/>
                </a:solidFill>
              </a:rPr>
              <a:t>Customer Experience</a:t>
            </a:r>
            <a:endParaRPr lang="en-US" sz="800" dirty="0"/>
          </a:p>
        </p:txBody>
      </p:sp>
      <p:sp>
        <p:nvSpPr>
          <p:cNvPr id="5" name="Text 3"/>
          <p:cNvSpPr/>
          <p:nvPr/>
        </p:nvSpPr>
        <p:spPr>
          <a:xfrm>
            <a:off x="566928" y="630936"/>
            <a:ext cx="10881360" cy="438912"/>
          </a:xfrm>
          <a:prstGeom prst="rect">
            <a:avLst/>
          </a:prstGeom>
          <a:noFill/>
          <a:ln/>
        </p:spPr>
        <p:txBody>
          <a:bodyPr wrap="square" lIns="0" tIns="0" rIns="0" bIns="0" rtlCol="0" anchor="ctr"/>
          <a:lstStyle/>
          <a:p>
            <a:pPr marL="0" indent="0">
              <a:buNone/>
            </a:pPr>
            <a:r>
              <a:rPr lang="en-US" sz="2500" b="1" dirty="0">
                <a:solidFill>
                  <a:srgbClr val="17365D"/>
                </a:solidFill>
              </a:rPr>
              <a:t>Customer Satisfaction and Feedback Themes</a:t>
            </a:r>
            <a:endParaRPr lang="en-US" sz="2500" dirty="0"/>
          </a:p>
        </p:txBody>
      </p:sp>
      <p:sp>
        <p:nvSpPr>
          <p:cNvPr id="6" name="Text 4"/>
          <p:cNvSpPr/>
          <p:nvPr/>
        </p:nvSpPr>
        <p:spPr>
          <a:xfrm>
            <a:off x="576072" y="1078992"/>
            <a:ext cx="10789920" cy="274320"/>
          </a:xfrm>
          <a:prstGeom prst="rect">
            <a:avLst/>
          </a:prstGeom>
          <a:noFill/>
          <a:ln/>
        </p:spPr>
        <p:txBody>
          <a:bodyPr wrap="square" lIns="0" tIns="0" rIns="0" bIns="0" rtlCol="0" anchor="ctr"/>
          <a:lstStyle/>
          <a:p>
            <a:pPr marL="0" indent="0">
              <a:buNone/>
            </a:pPr>
            <a:r>
              <a:rPr lang="en-US" sz="1050" dirty="0">
                <a:solidFill>
                  <a:srgbClr val="65758B"/>
                </a:solidFill>
              </a:rPr>
              <a:t>Customer feedback identifies both successful service practices and areas where the support experience can improve.</a:t>
            </a:r>
            <a:endParaRPr lang="en-US" sz="1050" dirty="0"/>
          </a:p>
        </p:txBody>
      </p:sp>
      <p:sp>
        <p:nvSpPr>
          <p:cNvPr id="7" name="Shape 5"/>
          <p:cNvSpPr/>
          <p:nvPr/>
        </p:nvSpPr>
        <p:spPr>
          <a:xfrm>
            <a:off x="566928" y="6437376"/>
            <a:ext cx="11018520" cy="13716"/>
          </a:xfrm>
          <a:prstGeom prst="rect">
            <a:avLst/>
          </a:prstGeom>
          <a:solidFill>
            <a:srgbClr val="D5DEE7"/>
          </a:solidFill>
          <a:ln w="12700">
            <a:solidFill>
              <a:srgbClr val="D5DEE7"/>
            </a:solidFill>
            <a:prstDash val="solid"/>
          </a:ln>
        </p:spPr>
      </p:sp>
      <p:sp>
        <p:nvSpPr>
          <p:cNvPr id="8" name="Text 6"/>
          <p:cNvSpPr/>
          <p:nvPr/>
        </p:nvSpPr>
        <p:spPr>
          <a:xfrm>
            <a:off x="566928" y="6528816"/>
            <a:ext cx="4572000" cy="164592"/>
          </a:xfrm>
          <a:prstGeom prst="rect">
            <a:avLst/>
          </a:prstGeom>
          <a:noFill/>
          <a:ln/>
        </p:spPr>
        <p:txBody>
          <a:bodyPr wrap="square" lIns="0" tIns="0" rIns="0" bIns="0" rtlCol="0" anchor="ctr"/>
          <a:lstStyle/>
          <a:p>
            <a:pPr marL="0" indent="0">
              <a:buNone/>
            </a:pPr>
            <a:r>
              <a:rPr lang="en-US" sz="700" dirty="0">
                <a:solidFill>
                  <a:srgbClr val="65758B"/>
                </a:solidFill>
              </a:rPr>
              <a:t>Internal Use | Reporting period: January to August 2026</a:t>
            </a:r>
            <a:endParaRPr lang="en-US" sz="700" dirty="0"/>
          </a:p>
        </p:txBody>
      </p:sp>
      <p:sp>
        <p:nvSpPr>
          <p:cNvPr id="9" name="Shape 7"/>
          <p:cNvSpPr/>
          <p:nvPr/>
        </p:nvSpPr>
        <p:spPr>
          <a:xfrm>
            <a:off x="658368" y="1481328"/>
            <a:ext cx="2560320" cy="1417320"/>
          </a:xfrm>
          <a:prstGeom prst="roundRect">
            <a:avLst>
              <a:gd name="adj" fmla="val 2581"/>
            </a:avLst>
          </a:prstGeom>
          <a:solidFill>
            <a:srgbClr val="FFFFFF"/>
          </a:solidFill>
          <a:ln w="12700">
            <a:solidFill>
              <a:srgbClr val="D5DEE7"/>
            </a:solidFill>
            <a:prstDash val="solid"/>
          </a:ln>
        </p:spPr>
      </p:sp>
      <p:sp>
        <p:nvSpPr>
          <p:cNvPr id="10" name="Shape 8"/>
          <p:cNvSpPr/>
          <p:nvPr/>
        </p:nvSpPr>
        <p:spPr>
          <a:xfrm>
            <a:off x="658368" y="1481328"/>
            <a:ext cx="73152" cy="1417320"/>
          </a:xfrm>
          <a:prstGeom prst="rect">
            <a:avLst/>
          </a:prstGeom>
          <a:solidFill>
            <a:srgbClr val="2E8B57"/>
          </a:solidFill>
          <a:ln w="12700">
            <a:solidFill>
              <a:srgbClr val="2E8B57"/>
            </a:solidFill>
            <a:prstDash val="solid"/>
          </a:ln>
        </p:spPr>
      </p:sp>
      <p:sp>
        <p:nvSpPr>
          <p:cNvPr id="11" name="Text 9"/>
          <p:cNvSpPr/>
          <p:nvPr/>
        </p:nvSpPr>
        <p:spPr>
          <a:xfrm>
            <a:off x="859536" y="1627632"/>
            <a:ext cx="2194560" cy="274320"/>
          </a:xfrm>
          <a:prstGeom prst="rect">
            <a:avLst/>
          </a:prstGeom>
          <a:noFill/>
          <a:ln/>
        </p:spPr>
        <p:txBody>
          <a:bodyPr wrap="square" lIns="0" tIns="0" rIns="0" bIns="0" rtlCol="0" anchor="ctr"/>
          <a:lstStyle/>
          <a:p>
            <a:pPr marL="0" indent="0">
              <a:buNone/>
            </a:pPr>
            <a:r>
              <a:rPr lang="en-US" sz="1300" b="1" dirty="0">
                <a:solidFill>
                  <a:srgbClr val="2E8B57"/>
                </a:solidFill>
              </a:rPr>
              <a:t>Live Chat</a:t>
            </a:r>
            <a:endParaRPr lang="en-US" sz="1300" dirty="0"/>
          </a:p>
        </p:txBody>
      </p:sp>
      <p:sp>
        <p:nvSpPr>
          <p:cNvPr id="12" name="Text 10"/>
          <p:cNvSpPr/>
          <p:nvPr/>
        </p:nvSpPr>
        <p:spPr>
          <a:xfrm>
            <a:off x="859536" y="2011680"/>
            <a:ext cx="2176272" cy="758952"/>
          </a:xfrm>
          <a:prstGeom prst="rect">
            <a:avLst/>
          </a:prstGeom>
          <a:noFill/>
          <a:ln/>
        </p:spPr>
        <p:txBody>
          <a:bodyPr wrap="square" lIns="254" tIns="254" rIns="254" bIns="254" rtlCol="0" anchor="t">
            <a:normAutofit/>
          </a:bodyPr>
          <a:lstStyle/>
          <a:p>
            <a:pPr marL="0" indent="0">
              <a:buNone/>
            </a:pPr>
            <a:r>
              <a:rPr lang="en-US" sz="1060" dirty="0">
                <a:solidFill>
                  <a:srgbClr val="25364A"/>
                </a:solidFill>
              </a:rPr>
              <a:t>Rating: 4.5 out of 5</a:t>
            </a:r>
            <a:endParaRPr lang="en-US" sz="1060" dirty="0"/>
          </a:p>
          <a:p>
            <a:pPr marL="0" indent="0">
              <a:buNone/>
            </a:pPr>
            <a:r>
              <a:rPr lang="en-US" sz="1060" dirty="0">
                <a:solidFill>
                  <a:srgbClr val="25364A"/>
                </a:solidFill>
              </a:rPr>
              <a:t>Customers valued immediate interaction, quick clarification, and the ability to resolve simple questions without waiting for email responses.</a:t>
            </a:r>
            <a:endParaRPr lang="en-US" sz="1060" dirty="0"/>
          </a:p>
        </p:txBody>
      </p:sp>
      <p:sp>
        <p:nvSpPr>
          <p:cNvPr id="13" name="Shape 11"/>
          <p:cNvSpPr/>
          <p:nvPr/>
        </p:nvSpPr>
        <p:spPr>
          <a:xfrm>
            <a:off x="3328416" y="1481328"/>
            <a:ext cx="2560320" cy="1417320"/>
          </a:xfrm>
          <a:prstGeom prst="roundRect">
            <a:avLst>
              <a:gd name="adj" fmla="val 2581"/>
            </a:avLst>
          </a:prstGeom>
          <a:solidFill>
            <a:srgbClr val="FFFFFF"/>
          </a:solidFill>
          <a:ln w="12700">
            <a:solidFill>
              <a:srgbClr val="D5DEE7"/>
            </a:solidFill>
            <a:prstDash val="solid"/>
          </a:ln>
        </p:spPr>
      </p:sp>
      <p:sp>
        <p:nvSpPr>
          <p:cNvPr id="14" name="Shape 12"/>
          <p:cNvSpPr/>
          <p:nvPr/>
        </p:nvSpPr>
        <p:spPr>
          <a:xfrm>
            <a:off x="3328416" y="1481328"/>
            <a:ext cx="73152" cy="1417320"/>
          </a:xfrm>
          <a:prstGeom prst="rect">
            <a:avLst/>
          </a:prstGeom>
          <a:solidFill>
            <a:srgbClr val="1A9E98"/>
          </a:solidFill>
          <a:ln w="12700">
            <a:solidFill>
              <a:srgbClr val="1A9E98"/>
            </a:solidFill>
            <a:prstDash val="solid"/>
          </a:ln>
        </p:spPr>
      </p:sp>
      <p:sp>
        <p:nvSpPr>
          <p:cNvPr id="15" name="Text 13"/>
          <p:cNvSpPr/>
          <p:nvPr/>
        </p:nvSpPr>
        <p:spPr>
          <a:xfrm>
            <a:off x="3529584" y="1627632"/>
            <a:ext cx="2194560" cy="274320"/>
          </a:xfrm>
          <a:prstGeom prst="rect">
            <a:avLst/>
          </a:prstGeom>
          <a:noFill/>
          <a:ln/>
        </p:spPr>
        <p:txBody>
          <a:bodyPr wrap="square" lIns="0" tIns="0" rIns="0" bIns="0" rtlCol="0" anchor="ctr"/>
          <a:lstStyle/>
          <a:p>
            <a:pPr marL="0" indent="0">
              <a:buNone/>
            </a:pPr>
            <a:r>
              <a:rPr lang="en-US" sz="1300" b="1" dirty="0">
                <a:solidFill>
                  <a:srgbClr val="1A9E98"/>
                </a:solidFill>
              </a:rPr>
              <a:t>Phone Support</a:t>
            </a:r>
            <a:endParaRPr lang="en-US" sz="1300" dirty="0"/>
          </a:p>
        </p:txBody>
      </p:sp>
      <p:sp>
        <p:nvSpPr>
          <p:cNvPr id="16" name="Text 14"/>
          <p:cNvSpPr/>
          <p:nvPr/>
        </p:nvSpPr>
        <p:spPr>
          <a:xfrm>
            <a:off x="3529584" y="2011680"/>
            <a:ext cx="2176272" cy="758952"/>
          </a:xfrm>
          <a:prstGeom prst="rect">
            <a:avLst/>
          </a:prstGeom>
          <a:noFill/>
          <a:ln/>
        </p:spPr>
        <p:txBody>
          <a:bodyPr wrap="square" lIns="254" tIns="254" rIns="254" bIns="254" rtlCol="0" anchor="t">
            <a:normAutofit/>
          </a:bodyPr>
          <a:lstStyle/>
          <a:p>
            <a:pPr marL="0" indent="0">
              <a:buNone/>
            </a:pPr>
            <a:r>
              <a:rPr lang="en-US" sz="1060" dirty="0">
                <a:solidFill>
                  <a:srgbClr val="25364A"/>
                </a:solidFill>
              </a:rPr>
              <a:t>Rating: 4.3 out of 5</a:t>
            </a:r>
            <a:endParaRPr lang="en-US" sz="1060" dirty="0"/>
          </a:p>
          <a:p>
            <a:pPr marL="0" indent="0">
              <a:buNone/>
            </a:pPr>
            <a:r>
              <a:rPr lang="en-US" sz="1060" dirty="0">
                <a:solidFill>
                  <a:srgbClr val="25364A"/>
                </a:solidFill>
              </a:rPr>
              <a:t>Customers appreciated direct discussion for urgent or complex cases. Call transfers and specialist availability were the main concerns.</a:t>
            </a:r>
            <a:endParaRPr lang="en-US" sz="1060" dirty="0"/>
          </a:p>
        </p:txBody>
      </p:sp>
      <p:sp>
        <p:nvSpPr>
          <p:cNvPr id="17" name="Shape 15"/>
          <p:cNvSpPr/>
          <p:nvPr/>
        </p:nvSpPr>
        <p:spPr>
          <a:xfrm>
            <a:off x="5998464" y="1481328"/>
            <a:ext cx="2560320" cy="1417320"/>
          </a:xfrm>
          <a:prstGeom prst="roundRect">
            <a:avLst>
              <a:gd name="adj" fmla="val 2581"/>
            </a:avLst>
          </a:prstGeom>
          <a:solidFill>
            <a:srgbClr val="FFFFFF"/>
          </a:solidFill>
          <a:ln w="12700">
            <a:solidFill>
              <a:srgbClr val="D5DEE7"/>
            </a:solidFill>
            <a:prstDash val="solid"/>
          </a:ln>
        </p:spPr>
      </p:sp>
      <p:sp>
        <p:nvSpPr>
          <p:cNvPr id="18" name="Shape 16"/>
          <p:cNvSpPr/>
          <p:nvPr/>
        </p:nvSpPr>
        <p:spPr>
          <a:xfrm>
            <a:off x="5998464" y="1481328"/>
            <a:ext cx="73152" cy="1417320"/>
          </a:xfrm>
          <a:prstGeom prst="rect">
            <a:avLst/>
          </a:prstGeom>
          <a:solidFill>
            <a:srgbClr val="244A73"/>
          </a:solidFill>
          <a:ln w="12700">
            <a:solidFill>
              <a:srgbClr val="244A73"/>
            </a:solidFill>
            <a:prstDash val="solid"/>
          </a:ln>
        </p:spPr>
      </p:sp>
      <p:sp>
        <p:nvSpPr>
          <p:cNvPr id="19" name="Text 17"/>
          <p:cNvSpPr/>
          <p:nvPr/>
        </p:nvSpPr>
        <p:spPr>
          <a:xfrm>
            <a:off x="6199632" y="1627632"/>
            <a:ext cx="2194560" cy="274320"/>
          </a:xfrm>
          <a:prstGeom prst="rect">
            <a:avLst/>
          </a:prstGeom>
          <a:noFill/>
          <a:ln/>
        </p:spPr>
        <p:txBody>
          <a:bodyPr wrap="square" lIns="0" tIns="0" rIns="0" bIns="0" rtlCol="0" anchor="ctr"/>
          <a:lstStyle/>
          <a:p>
            <a:pPr marL="0" indent="0">
              <a:buNone/>
            </a:pPr>
            <a:r>
              <a:rPr lang="en-US" sz="1300" b="1" dirty="0">
                <a:solidFill>
                  <a:srgbClr val="244A73"/>
                </a:solidFill>
              </a:rPr>
              <a:t>Email Support</a:t>
            </a:r>
            <a:endParaRPr lang="en-US" sz="1300" dirty="0"/>
          </a:p>
        </p:txBody>
      </p:sp>
      <p:sp>
        <p:nvSpPr>
          <p:cNvPr id="20" name="Text 18"/>
          <p:cNvSpPr/>
          <p:nvPr/>
        </p:nvSpPr>
        <p:spPr>
          <a:xfrm>
            <a:off x="6199632" y="2011680"/>
            <a:ext cx="2176272" cy="758952"/>
          </a:xfrm>
          <a:prstGeom prst="rect">
            <a:avLst/>
          </a:prstGeom>
          <a:noFill/>
          <a:ln/>
        </p:spPr>
        <p:txBody>
          <a:bodyPr wrap="square" lIns="254" tIns="254" rIns="254" bIns="254" rtlCol="0" anchor="t">
            <a:normAutofit/>
          </a:bodyPr>
          <a:lstStyle/>
          <a:p>
            <a:pPr marL="0" indent="0">
              <a:buNone/>
            </a:pPr>
            <a:r>
              <a:rPr lang="en-US" sz="1060" dirty="0">
                <a:solidFill>
                  <a:srgbClr val="25364A"/>
                </a:solidFill>
              </a:rPr>
              <a:t>Rating: 4.0 out of 5</a:t>
            </a:r>
            <a:endParaRPr lang="en-US" sz="1060" dirty="0"/>
          </a:p>
          <a:p>
            <a:pPr marL="0" indent="0">
              <a:buNone/>
            </a:pPr>
            <a:r>
              <a:rPr lang="en-US" sz="1060" dirty="0">
                <a:solidFill>
                  <a:srgbClr val="25364A"/>
                </a:solidFill>
              </a:rPr>
              <a:t>Customers valued written records but requested more frequent progress updates and clearer ownership for long-running cases.</a:t>
            </a:r>
            <a:endParaRPr lang="en-US" sz="1060" dirty="0"/>
          </a:p>
        </p:txBody>
      </p:sp>
      <p:sp>
        <p:nvSpPr>
          <p:cNvPr id="21" name="Shape 19"/>
          <p:cNvSpPr/>
          <p:nvPr/>
        </p:nvSpPr>
        <p:spPr>
          <a:xfrm>
            <a:off x="8668512" y="1481328"/>
            <a:ext cx="2560320" cy="1417320"/>
          </a:xfrm>
          <a:prstGeom prst="roundRect">
            <a:avLst>
              <a:gd name="adj" fmla="val 2581"/>
            </a:avLst>
          </a:prstGeom>
          <a:solidFill>
            <a:srgbClr val="FFFFFF"/>
          </a:solidFill>
          <a:ln w="12700">
            <a:solidFill>
              <a:srgbClr val="D5DEE7"/>
            </a:solidFill>
            <a:prstDash val="solid"/>
          </a:ln>
        </p:spPr>
      </p:sp>
      <p:sp>
        <p:nvSpPr>
          <p:cNvPr id="22" name="Shape 20"/>
          <p:cNvSpPr/>
          <p:nvPr/>
        </p:nvSpPr>
        <p:spPr>
          <a:xfrm>
            <a:off x="8668512" y="1481328"/>
            <a:ext cx="73152" cy="1417320"/>
          </a:xfrm>
          <a:prstGeom prst="rect">
            <a:avLst/>
          </a:prstGeom>
          <a:solidFill>
            <a:srgbClr val="E67E22"/>
          </a:solidFill>
          <a:ln w="12700">
            <a:solidFill>
              <a:srgbClr val="E67E22"/>
            </a:solidFill>
            <a:prstDash val="solid"/>
          </a:ln>
        </p:spPr>
      </p:sp>
      <p:sp>
        <p:nvSpPr>
          <p:cNvPr id="23" name="Text 21"/>
          <p:cNvSpPr/>
          <p:nvPr/>
        </p:nvSpPr>
        <p:spPr>
          <a:xfrm>
            <a:off x="8869680" y="1627632"/>
            <a:ext cx="2194560" cy="274320"/>
          </a:xfrm>
          <a:prstGeom prst="rect">
            <a:avLst/>
          </a:prstGeom>
          <a:noFill/>
          <a:ln/>
        </p:spPr>
        <p:txBody>
          <a:bodyPr wrap="square" lIns="0" tIns="0" rIns="0" bIns="0" rtlCol="0" anchor="ctr"/>
          <a:lstStyle/>
          <a:p>
            <a:pPr marL="0" indent="0">
              <a:buNone/>
            </a:pPr>
            <a:r>
              <a:rPr lang="en-US" sz="1300" b="1" dirty="0">
                <a:solidFill>
                  <a:srgbClr val="E67E22"/>
                </a:solidFill>
              </a:rPr>
              <a:t>Self-Service Portal</a:t>
            </a:r>
            <a:endParaRPr lang="en-US" sz="1300" dirty="0"/>
          </a:p>
        </p:txBody>
      </p:sp>
      <p:sp>
        <p:nvSpPr>
          <p:cNvPr id="24" name="Text 22"/>
          <p:cNvSpPr/>
          <p:nvPr/>
        </p:nvSpPr>
        <p:spPr>
          <a:xfrm>
            <a:off x="8869680" y="2011680"/>
            <a:ext cx="2176272" cy="758952"/>
          </a:xfrm>
          <a:prstGeom prst="rect">
            <a:avLst/>
          </a:prstGeom>
          <a:noFill/>
          <a:ln/>
        </p:spPr>
        <p:txBody>
          <a:bodyPr wrap="square" lIns="254" tIns="254" rIns="254" bIns="254" rtlCol="0" anchor="t">
            <a:normAutofit/>
          </a:bodyPr>
          <a:lstStyle/>
          <a:p>
            <a:pPr marL="0" indent="0">
              <a:buNone/>
            </a:pPr>
            <a:r>
              <a:rPr lang="en-US" sz="1060" dirty="0">
                <a:solidFill>
                  <a:srgbClr val="25364A"/>
                </a:solidFill>
              </a:rPr>
              <a:t>Rating: 3.8 out of 5</a:t>
            </a:r>
            <a:endParaRPr lang="en-US" sz="1060" dirty="0"/>
          </a:p>
          <a:p>
            <a:pPr marL="0" indent="0">
              <a:buNone/>
            </a:pPr>
            <a:r>
              <a:rPr lang="en-US" sz="1060" dirty="0">
                <a:solidFill>
                  <a:srgbClr val="25364A"/>
                </a:solidFill>
              </a:rPr>
              <a:t>Customers reported that some troubleshooting articles were difficult to locate, too technical, or incomplete for common scenarios.</a:t>
            </a:r>
            <a:endParaRPr lang="en-US" sz="1060" dirty="0"/>
          </a:p>
        </p:txBody>
      </p:sp>
      <p:sp>
        <p:nvSpPr>
          <p:cNvPr id="25" name="Shape 23"/>
          <p:cNvSpPr/>
          <p:nvPr/>
        </p:nvSpPr>
        <p:spPr>
          <a:xfrm>
            <a:off x="658368" y="3227832"/>
            <a:ext cx="5349240" cy="2084832"/>
          </a:xfrm>
          <a:prstGeom prst="roundRect">
            <a:avLst>
              <a:gd name="adj" fmla="val 1754"/>
            </a:avLst>
          </a:prstGeom>
          <a:solidFill>
            <a:srgbClr val="FFFFFF"/>
          </a:solidFill>
          <a:ln w="12700">
            <a:solidFill>
              <a:srgbClr val="D5DEE7"/>
            </a:solidFill>
            <a:prstDash val="solid"/>
          </a:ln>
        </p:spPr>
      </p:sp>
      <p:sp>
        <p:nvSpPr>
          <p:cNvPr id="26" name="Shape 24"/>
          <p:cNvSpPr/>
          <p:nvPr/>
        </p:nvSpPr>
        <p:spPr>
          <a:xfrm>
            <a:off x="658368" y="3227832"/>
            <a:ext cx="73152" cy="2084832"/>
          </a:xfrm>
          <a:prstGeom prst="rect">
            <a:avLst/>
          </a:prstGeom>
          <a:solidFill>
            <a:srgbClr val="2E8B57"/>
          </a:solidFill>
          <a:ln w="12700">
            <a:solidFill>
              <a:srgbClr val="2E8B57"/>
            </a:solidFill>
            <a:prstDash val="solid"/>
          </a:ln>
        </p:spPr>
      </p:sp>
      <p:sp>
        <p:nvSpPr>
          <p:cNvPr id="27" name="Text 25"/>
          <p:cNvSpPr/>
          <p:nvPr/>
        </p:nvSpPr>
        <p:spPr>
          <a:xfrm>
            <a:off x="859536" y="3374136"/>
            <a:ext cx="4983480" cy="274320"/>
          </a:xfrm>
          <a:prstGeom prst="rect">
            <a:avLst/>
          </a:prstGeom>
          <a:noFill/>
          <a:ln/>
        </p:spPr>
        <p:txBody>
          <a:bodyPr wrap="square" lIns="0" tIns="0" rIns="0" bIns="0" rtlCol="0" anchor="ctr"/>
          <a:lstStyle/>
          <a:p>
            <a:pPr marL="0" indent="0">
              <a:buNone/>
            </a:pPr>
            <a:r>
              <a:rPr lang="en-US" sz="1300" b="1" dirty="0">
                <a:solidFill>
                  <a:srgbClr val="2E8B57"/>
                </a:solidFill>
              </a:rPr>
              <a:t>Positive Feedback</a:t>
            </a:r>
            <a:endParaRPr lang="en-US" sz="1300" dirty="0"/>
          </a:p>
        </p:txBody>
      </p:sp>
      <p:sp>
        <p:nvSpPr>
          <p:cNvPr id="28" name="Text 26"/>
          <p:cNvSpPr/>
          <p:nvPr/>
        </p:nvSpPr>
        <p:spPr>
          <a:xfrm>
            <a:off x="859536" y="3758184"/>
            <a:ext cx="4965192" cy="1426464"/>
          </a:xfrm>
          <a:prstGeom prst="rect">
            <a:avLst/>
          </a:prstGeom>
          <a:noFill/>
          <a:ln/>
        </p:spPr>
        <p:txBody>
          <a:bodyPr wrap="square" lIns="254" tIns="254" rIns="254" bIns="254" rtlCol="0" anchor="t">
            <a:normAutofit/>
          </a:bodyPr>
          <a:lstStyle/>
          <a:p>
            <a:pPr marL="177800" indent="-177800">
              <a:buSzPct val="100000"/>
              <a:buChar char="•"/>
            </a:pPr>
            <a:r>
              <a:rPr lang="en-US" sz="1100" dirty="0">
                <a:solidFill>
                  <a:srgbClr val="25364A"/>
                </a:solidFill>
              </a:rPr>
              <a:t>Live-chat agents provided clear and timely answers.</a:t>
            </a:r>
            <a:endParaRPr lang="en-US" sz="1100" dirty="0"/>
          </a:p>
          <a:p>
            <a:pPr marL="177800" indent="-177800">
              <a:buSzPct val="100000"/>
              <a:buChar char="•"/>
            </a:pPr>
            <a:r>
              <a:rPr lang="en-US" sz="1100" dirty="0">
                <a:solidFill>
                  <a:srgbClr val="25364A"/>
                </a:solidFill>
              </a:rPr>
              <a:t>Phone agents demonstrated strong ownership of urgent cases.</a:t>
            </a:r>
            <a:endParaRPr lang="en-US" sz="1100" dirty="0"/>
          </a:p>
          <a:p>
            <a:pPr marL="177800" indent="-177800">
              <a:buSzPct val="100000"/>
              <a:buChar char="•"/>
            </a:pPr>
            <a:r>
              <a:rPr lang="en-US" sz="1100" dirty="0">
                <a:solidFill>
                  <a:srgbClr val="25364A"/>
                </a:solidFill>
              </a:rPr>
              <a:t>Customers valued proactive notifications during known incidents.</a:t>
            </a:r>
            <a:endParaRPr lang="en-US" sz="1100" dirty="0"/>
          </a:p>
          <a:p>
            <a:pPr marL="177800" indent="-177800">
              <a:buSzPct val="100000"/>
              <a:buChar char="•"/>
            </a:pPr>
            <a:r>
              <a:rPr lang="en-US" sz="1100" dirty="0">
                <a:solidFill>
                  <a:srgbClr val="25364A"/>
                </a:solidFill>
              </a:rPr>
              <a:t>Resolved cases generally included clear closure explanations.</a:t>
            </a:r>
            <a:endParaRPr lang="en-US" sz="1100" dirty="0"/>
          </a:p>
        </p:txBody>
      </p:sp>
      <p:sp>
        <p:nvSpPr>
          <p:cNvPr id="29" name="Shape 27"/>
          <p:cNvSpPr/>
          <p:nvPr/>
        </p:nvSpPr>
        <p:spPr>
          <a:xfrm>
            <a:off x="6199632" y="3227832"/>
            <a:ext cx="5349240" cy="2084832"/>
          </a:xfrm>
          <a:prstGeom prst="roundRect">
            <a:avLst>
              <a:gd name="adj" fmla="val 1754"/>
            </a:avLst>
          </a:prstGeom>
          <a:solidFill>
            <a:srgbClr val="FFFFFF"/>
          </a:solidFill>
          <a:ln w="12700">
            <a:solidFill>
              <a:srgbClr val="D5DEE7"/>
            </a:solidFill>
            <a:prstDash val="solid"/>
          </a:ln>
        </p:spPr>
      </p:sp>
      <p:sp>
        <p:nvSpPr>
          <p:cNvPr id="30" name="Shape 28"/>
          <p:cNvSpPr/>
          <p:nvPr/>
        </p:nvSpPr>
        <p:spPr>
          <a:xfrm>
            <a:off x="6199632" y="3227832"/>
            <a:ext cx="73152" cy="2084832"/>
          </a:xfrm>
          <a:prstGeom prst="rect">
            <a:avLst/>
          </a:prstGeom>
          <a:solidFill>
            <a:srgbClr val="E67E22"/>
          </a:solidFill>
          <a:ln w="12700">
            <a:solidFill>
              <a:srgbClr val="E67E22"/>
            </a:solidFill>
            <a:prstDash val="solid"/>
          </a:ln>
        </p:spPr>
      </p:sp>
      <p:sp>
        <p:nvSpPr>
          <p:cNvPr id="31" name="Text 29"/>
          <p:cNvSpPr/>
          <p:nvPr/>
        </p:nvSpPr>
        <p:spPr>
          <a:xfrm>
            <a:off x="6400800" y="3374136"/>
            <a:ext cx="4983480" cy="274320"/>
          </a:xfrm>
          <a:prstGeom prst="rect">
            <a:avLst/>
          </a:prstGeom>
          <a:noFill/>
          <a:ln/>
        </p:spPr>
        <p:txBody>
          <a:bodyPr wrap="square" lIns="0" tIns="0" rIns="0" bIns="0" rtlCol="0" anchor="ctr"/>
          <a:lstStyle/>
          <a:p>
            <a:pPr marL="0" indent="0">
              <a:buNone/>
            </a:pPr>
            <a:r>
              <a:rPr lang="en-US" sz="1300" b="1" dirty="0">
                <a:solidFill>
                  <a:srgbClr val="E67E22"/>
                </a:solidFill>
              </a:rPr>
              <a:t>Improvement Feedback</a:t>
            </a:r>
            <a:endParaRPr lang="en-US" sz="1300" dirty="0"/>
          </a:p>
        </p:txBody>
      </p:sp>
      <p:sp>
        <p:nvSpPr>
          <p:cNvPr id="32" name="Text 30"/>
          <p:cNvSpPr/>
          <p:nvPr/>
        </p:nvSpPr>
        <p:spPr>
          <a:xfrm>
            <a:off x="6400800" y="3758184"/>
            <a:ext cx="4965192" cy="1426464"/>
          </a:xfrm>
          <a:prstGeom prst="rect">
            <a:avLst/>
          </a:prstGeom>
          <a:noFill/>
          <a:ln/>
        </p:spPr>
        <p:txBody>
          <a:bodyPr wrap="square" lIns="254" tIns="254" rIns="254" bIns="254" rtlCol="0" anchor="t">
            <a:normAutofit/>
          </a:bodyPr>
          <a:lstStyle/>
          <a:p>
            <a:pPr marL="177800" indent="-177800">
              <a:buSzPct val="100000"/>
              <a:buChar char="•"/>
            </a:pPr>
            <a:r>
              <a:rPr lang="en-US" sz="1080" dirty="0">
                <a:solidFill>
                  <a:srgbClr val="25364A"/>
                </a:solidFill>
              </a:rPr>
              <a:t>Provide updates more frequently during lengthy investigations.</a:t>
            </a:r>
            <a:endParaRPr lang="en-US" sz="1080" dirty="0"/>
          </a:p>
          <a:p>
            <a:pPr marL="177800" indent="-177800">
              <a:buSzPct val="100000"/>
              <a:buChar char="•"/>
            </a:pPr>
            <a:r>
              <a:rPr lang="en-US" sz="1080" dirty="0">
                <a:solidFill>
                  <a:srgbClr val="25364A"/>
                </a:solidFill>
              </a:rPr>
              <a:t>Use clearer, less technical language in self-service articles.</a:t>
            </a:r>
            <a:endParaRPr lang="en-US" sz="1080" dirty="0"/>
          </a:p>
          <a:p>
            <a:pPr marL="177800" indent="-177800">
              <a:buSzPct val="100000"/>
              <a:buChar char="•"/>
            </a:pPr>
            <a:r>
              <a:rPr lang="en-US" sz="1080" dirty="0">
                <a:solidFill>
                  <a:srgbClr val="25364A"/>
                </a:solidFill>
              </a:rPr>
              <a:t>Show the current case owner and next expected action.</a:t>
            </a:r>
            <a:endParaRPr lang="en-US" sz="1080" dirty="0"/>
          </a:p>
          <a:p>
            <a:pPr marL="177800" indent="-177800">
              <a:buSzPct val="100000"/>
              <a:buChar char="•"/>
            </a:pPr>
            <a:r>
              <a:rPr lang="en-US" sz="1080" dirty="0">
                <a:solidFill>
                  <a:srgbClr val="25364A"/>
                </a:solidFill>
              </a:rPr>
              <a:t>Reduce repeated collection of information during transfers.</a:t>
            </a:r>
            <a:endParaRPr lang="en-US" sz="1080" dirty="0"/>
          </a:p>
          <a:p>
            <a:pPr marL="177800" indent="-177800">
              <a:buSzPct val="100000"/>
              <a:buChar char="•"/>
            </a:pPr>
            <a:r>
              <a:rPr lang="en-US" sz="1080" dirty="0">
                <a:solidFill>
                  <a:srgbClr val="25364A"/>
                </a:solidFill>
              </a:rPr>
              <a:t>Expand guidance for access, payment, and connectivity issues.</a:t>
            </a:r>
            <a:endParaRPr lang="en-US" sz="1080" dirty="0"/>
          </a:p>
        </p:txBody>
      </p:sp>
      <p:sp>
        <p:nvSpPr>
          <p:cNvPr id="33" name="Shape 31"/>
          <p:cNvSpPr/>
          <p:nvPr/>
        </p:nvSpPr>
        <p:spPr>
          <a:xfrm>
            <a:off x="658368" y="5888736"/>
            <a:ext cx="10881360" cy="411480"/>
          </a:xfrm>
          <a:prstGeom prst="roundRect">
            <a:avLst>
              <a:gd name="adj" fmla="val 6667"/>
            </a:avLst>
          </a:prstGeom>
          <a:solidFill>
            <a:srgbClr val="E7F4F3"/>
          </a:solidFill>
          <a:ln w="12700">
            <a:solidFill>
              <a:srgbClr val="B8DCD9"/>
            </a:solidFill>
            <a:prstDash val="solid"/>
          </a:ln>
        </p:spPr>
      </p:sp>
      <p:sp>
        <p:nvSpPr>
          <p:cNvPr id="34" name="Text 32"/>
          <p:cNvSpPr/>
          <p:nvPr/>
        </p:nvSpPr>
        <p:spPr>
          <a:xfrm>
            <a:off x="822960" y="5998464"/>
            <a:ext cx="10515600" cy="164592"/>
          </a:xfrm>
          <a:prstGeom prst="rect">
            <a:avLst/>
          </a:prstGeom>
          <a:noFill/>
          <a:ln/>
        </p:spPr>
        <p:txBody>
          <a:bodyPr wrap="square" lIns="0" tIns="0" rIns="0" bIns="0" rtlCol="0" anchor="ctr"/>
          <a:lstStyle/>
          <a:p>
            <a:pPr marL="0" indent="0" algn="ctr">
              <a:buNone/>
            </a:pPr>
            <a:r>
              <a:rPr lang="en-US" sz="950" b="1" dirty="0">
                <a:solidFill>
                  <a:srgbClr val="244A73"/>
                </a:solidFill>
              </a:rPr>
              <a:t>Customer satisfaction averaged 4.2 out of 5 across all support channels.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B"/>
        </a:solidFill>
        <a:effectLst/>
      </p:bgPr>
    </p:bg>
    <p:spTree>
      <p:nvGrpSpPr>
        <p:cNvPr id="1" name=""/>
        <p:cNvGrpSpPr/>
        <p:nvPr/>
      </p:nvGrpSpPr>
      <p:grpSpPr>
        <a:xfrm>
          <a:off x="0" y="0"/>
          <a:ext cx="1" cy="1"/>
          <a:chOff x="0" y="0"/>
          <a:chExt cx="1" cy="1"/>
        </a:xfrm>
      </p:grpSpPr>
      <p:sp>
        <p:nvSpPr>
          <p:cNvPr id="2" name="Shape 0"/>
          <p:cNvSpPr/>
          <p:nvPr/>
        </p:nvSpPr>
        <p:spPr>
          <a:xfrm>
            <a:off x="0" y="0"/>
            <a:ext cx="12191695" cy="128016"/>
          </a:xfrm>
          <a:prstGeom prst="rect">
            <a:avLst/>
          </a:prstGeom>
          <a:solidFill>
            <a:srgbClr val="1A9E98"/>
          </a:solidFill>
          <a:ln w="12700">
            <a:solidFill>
              <a:srgbClr val="1A9E98"/>
            </a:solidFill>
            <a:prstDash val="solid"/>
          </a:ln>
        </p:spPr>
      </p:sp>
      <p:sp>
        <p:nvSpPr>
          <p:cNvPr id="3" name="Text 1"/>
          <p:cNvSpPr/>
          <p:nvPr/>
        </p:nvSpPr>
        <p:spPr>
          <a:xfrm>
            <a:off x="502920" y="228600"/>
            <a:ext cx="4572000" cy="201168"/>
          </a:xfrm>
          <a:prstGeom prst="rect">
            <a:avLst/>
          </a:prstGeom>
          <a:noFill/>
          <a:ln/>
        </p:spPr>
        <p:txBody>
          <a:bodyPr wrap="square" lIns="0" tIns="0" rIns="0" bIns="0" rtlCol="0" anchor="ctr"/>
          <a:lstStyle/>
          <a:p>
            <a:pPr marL="0" indent="0">
              <a:buNone/>
            </a:pPr>
            <a:r>
              <a:rPr lang="en-US" sz="800" b="1" dirty="0">
                <a:solidFill>
                  <a:srgbClr val="65758B"/>
                </a:solidFill>
              </a:rPr>
              <a:t>NORTHSTAR BUSINESS SERVICES PVT. LTD.</a:t>
            </a:r>
            <a:endParaRPr lang="en-US" sz="800" dirty="0"/>
          </a:p>
        </p:txBody>
      </p:sp>
      <p:sp>
        <p:nvSpPr>
          <p:cNvPr id="4" name="Text 2"/>
          <p:cNvSpPr/>
          <p:nvPr/>
        </p:nvSpPr>
        <p:spPr>
          <a:xfrm>
            <a:off x="9235440" y="228600"/>
            <a:ext cx="2423160" cy="201168"/>
          </a:xfrm>
          <a:prstGeom prst="rect">
            <a:avLst/>
          </a:prstGeom>
          <a:noFill/>
          <a:ln/>
        </p:spPr>
        <p:txBody>
          <a:bodyPr wrap="square" lIns="0" tIns="0" rIns="0" bIns="0" rtlCol="0" anchor="ctr"/>
          <a:lstStyle/>
          <a:p>
            <a:pPr marL="0" indent="0" algn="r">
              <a:buNone/>
            </a:pPr>
            <a:r>
              <a:rPr lang="en-US" sz="800" dirty="0">
                <a:solidFill>
                  <a:srgbClr val="65758B"/>
                </a:solidFill>
              </a:rPr>
              <a:t>Incident Review</a:t>
            </a:r>
            <a:endParaRPr lang="en-US" sz="800" dirty="0"/>
          </a:p>
        </p:txBody>
      </p:sp>
      <p:sp>
        <p:nvSpPr>
          <p:cNvPr id="5" name="Text 3"/>
          <p:cNvSpPr/>
          <p:nvPr/>
        </p:nvSpPr>
        <p:spPr>
          <a:xfrm>
            <a:off x="566928" y="630936"/>
            <a:ext cx="10881360" cy="438912"/>
          </a:xfrm>
          <a:prstGeom prst="rect">
            <a:avLst/>
          </a:prstGeom>
          <a:noFill/>
          <a:ln/>
        </p:spPr>
        <p:txBody>
          <a:bodyPr wrap="square" lIns="0" tIns="0" rIns="0" bIns="0" rtlCol="0" anchor="ctr"/>
          <a:lstStyle/>
          <a:p>
            <a:pPr marL="0" indent="0">
              <a:buNone/>
            </a:pPr>
            <a:r>
              <a:rPr lang="en-US" sz="2500" b="1" dirty="0">
                <a:solidFill>
                  <a:srgbClr val="17365D"/>
                </a:solidFill>
              </a:rPr>
              <a:t>Major Service Incidents</a:t>
            </a:r>
            <a:endParaRPr lang="en-US" sz="2500" dirty="0"/>
          </a:p>
        </p:txBody>
      </p:sp>
      <p:sp>
        <p:nvSpPr>
          <p:cNvPr id="6" name="Text 4"/>
          <p:cNvSpPr/>
          <p:nvPr/>
        </p:nvSpPr>
        <p:spPr>
          <a:xfrm>
            <a:off x="576072" y="1078992"/>
            <a:ext cx="10789920" cy="274320"/>
          </a:xfrm>
          <a:prstGeom prst="rect">
            <a:avLst/>
          </a:prstGeom>
          <a:noFill/>
          <a:ln/>
        </p:spPr>
        <p:txBody>
          <a:bodyPr wrap="square" lIns="0" tIns="0" rIns="0" bIns="0" rtlCol="0" anchor="ctr"/>
          <a:lstStyle/>
          <a:p>
            <a:pPr marL="0" indent="0">
              <a:buNone/>
            </a:pPr>
            <a:r>
              <a:rPr lang="en-US" sz="1050" dirty="0">
                <a:solidFill>
                  <a:srgbClr val="65758B"/>
                </a:solidFill>
              </a:rPr>
              <a:t>Three incidents affected 3,680 customers and generated concentrated support demand.</a:t>
            </a:r>
            <a:endParaRPr lang="en-US" sz="1050" dirty="0"/>
          </a:p>
        </p:txBody>
      </p:sp>
      <p:sp>
        <p:nvSpPr>
          <p:cNvPr id="7" name="Shape 5"/>
          <p:cNvSpPr/>
          <p:nvPr/>
        </p:nvSpPr>
        <p:spPr>
          <a:xfrm>
            <a:off x="566928" y="6437376"/>
            <a:ext cx="11018520" cy="13716"/>
          </a:xfrm>
          <a:prstGeom prst="rect">
            <a:avLst/>
          </a:prstGeom>
          <a:solidFill>
            <a:srgbClr val="D5DEE7"/>
          </a:solidFill>
          <a:ln w="12700">
            <a:solidFill>
              <a:srgbClr val="D5DEE7"/>
            </a:solidFill>
            <a:prstDash val="solid"/>
          </a:ln>
        </p:spPr>
      </p:sp>
      <p:sp>
        <p:nvSpPr>
          <p:cNvPr id="8" name="Text 6"/>
          <p:cNvSpPr/>
          <p:nvPr/>
        </p:nvSpPr>
        <p:spPr>
          <a:xfrm>
            <a:off x="566928" y="6528816"/>
            <a:ext cx="4572000" cy="164592"/>
          </a:xfrm>
          <a:prstGeom prst="rect">
            <a:avLst/>
          </a:prstGeom>
          <a:noFill/>
          <a:ln/>
        </p:spPr>
        <p:txBody>
          <a:bodyPr wrap="square" lIns="0" tIns="0" rIns="0" bIns="0" rtlCol="0" anchor="ctr"/>
          <a:lstStyle/>
          <a:p>
            <a:pPr marL="0" indent="0">
              <a:buNone/>
            </a:pPr>
            <a:r>
              <a:rPr lang="en-US" sz="700" dirty="0">
                <a:solidFill>
                  <a:srgbClr val="65758B"/>
                </a:solidFill>
              </a:rPr>
              <a:t>Internal Use | Reporting period: January to August 2026</a:t>
            </a:r>
            <a:endParaRPr lang="en-US" sz="700" dirty="0"/>
          </a:p>
        </p:txBody>
      </p:sp>
      <p:sp>
        <p:nvSpPr>
          <p:cNvPr id="9" name="Shape 7"/>
          <p:cNvSpPr/>
          <p:nvPr/>
        </p:nvSpPr>
        <p:spPr>
          <a:xfrm>
            <a:off x="658368" y="1444752"/>
            <a:ext cx="3493008" cy="4160520"/>
          </a:xfrm>
          <a:prstGeom prst="roundRect">
            <a:avLst>
              <a:gd name="adj" fmla="val 1047"/>
            </a:avLst>
          </a:prstGeom>
          <a:solidFill>
            <a:srgbClr val="FFFFFF"/>
          </a:solidFill>
          <a:ln w="12700">
            <a:solidFill>
              <a:srgbClr val="D5DEE7"/>
            </a:solidFill>
            <a:prstDash val="solid"/>
          </a:ln>
        </p:spPr>
      </p:sp>
      <p:sp>
        <p:nvSpPr>
          <p:cNvPr id="10" name="Shape 8"/>
          <p:cNvSpPr/>
          <p:nvPr/>
        </p:nvSpPr>
        <p:spPr>
          <a:xfrm>
            <a:off x="658368" y="1444752"/>
            <a:ext cx="73152" cy="4160520"/>
          </a:xfrm>
          <a:prstGeom prst="rect">
            <a:avLst/>
          </a:prstGeom>
          <a:solidFill>
            <a:srgbClr val="E67E22"/>
          </a:solidFill>
          <a:ln w="12700">
            <a:solidFill>
              <a:srgbClr val="E67E22"/>
            </a:solidFill>
            <a:prstDash val="solid"/>
          </a:ln>
        </p:spPr>
      </p:sp>
      <p:sp>
        <p:nvSpPr>
          <p:cNvPr id="11" name="Text 9"/>
          <p:cNvSpPr/>
          <p:nvPr/>
        </p:nvSpPr>
        <p:spPr>
          <a:xfrm>
            <a:off x="859536" y="1591056"/>
            <a:ext cx="3127248" cy="274320"/>
          </a:xfrm>
          <a:prstGeom prst="rect">
            <a:avLst/>
          </a:prstGeom>
          <a:noFill/>
          <a:ln/>
        </p:spPr>
        <p:txBody>
          <a:bodyPr wrap="square" lIns="0" tIns="0" rIns="0" bIns="0" rtlCol="0" anchor="ctr"/>
          <a:lstStyle/>
          <a:p>
            <a:pPr marL="0" indent="0">
              <a:buNone/>
            </a:pPr>
            <a:r>
              <a:rPr lang="en-US" sz="1300" b="1" dirty="0">
                <a:solidFill>
                  <a:srgbClr val="E67E22"/>
                </a:solidFill>
              </a:rPr>
              <a:t>Payment Gateway Interruption</a:t>
            </a:r>
            <a:endParaRPr lang="en-US" sz="1300" dirty="0"/>
          </a:p>
        </p:txBody>
      </p:sp>
      <p:sp>
        <p:nvSpPr>
          <p:cNvPr id="12" name="Text 10"/>
          <p:cNvSpPr/>
          <p:nvPr/>
        </p:nvSpPr>
        <p:spPr>
          <a:xfrm>
            <a:off x="859536" y="1975104"/>
            <a:ext cx="3108960" cy="3502152"/>
          </a:xfrm>
          <a:prstGeom prst="rect">
            <a:avLst/>
          </a:prstGeom>
          <a:noFill/>
          <a:ln/>
        </p:spPr>
        <p:txBody>
          <a:bodyPr wrap="square" lIns="254" tIns="254" rIns="254" bIns="254" rtlCol="0" anchor="t">
            <a:normAutofit/>
          </a:bodyPr>
          <a:lstStyle/>
          <a:p>
            <a:pPr marL="177800" indent="-177800">
              <a:buSzPct val="100000"/>
              <a:buChar char="•"/>
            </a:pPr>
            <a:r>
              <a:rPr lang="en-US" sz="1020" dirty="0">
                <a:solidFill>
                  <a:srgbClr val="25364A"/>
                </a:solidFill>
              </a:rPr>
              <a:t>Incident date: 18 March 2026</a:t>
            </a:r>
            <a:endParaRPr lang="en-US" sz="1020" dirty="0"/>
          </a:p>
          <a:p>
            <a:pPr marL="177800" indent="-177800">
              <a:buSzPct val="100000"/>
              <a:buChar char="•"/>
            </a:pPr>
            <a:r>
              <a:rPr lang="en-US" sz="1020" dirty="0">
                <a:solidFill>
                  <a:srgbClr val="25364A"/>
                </a:solidFill>
              </a:rPr>
              <a:t>Duration: 2 hours and 15 minutes</a:t>
            </a:r>
            <a:endParaRPr lang="en-US" sz="1020" dirty="0"/>
          </a:p>
          <a:p>
            <a:pPr marL="177800" indent="-177800">
              <a:buSzPct val="100000"/>
              <a:buChar char="•"/>
            </a:pPr>
            <a:r>
              <a:rPr lang="en-US" sz="1020" dirty="0">
                <a:solidFill>
                  <a:srgbClr val="25364A"/>
                </a:solidFill>
              </a:rPr>
              <a:t>Customers affected: 1,240</a:t>
            </a:r>
            <a:endParaRPr lang="en-US" sz="1020" dirty="0"/>
          </a:p>
          <a:p>
            <a:pPr marL="177800" indent="-177800">
              <a:buSzPct val="100000"/>
              <a:buChar char="•"/>
            </a:pPr>
            <a:r>
              <a:rPr lang="en-US" sz="1020" dirty="0">
                <a:solidFill>
                  <a:srgbClr val="25364A"/>
                </a:solidFill>
              </a:rPr>
              <a:t>Observed impact: Payments could not be completed or confirmed reliably.</a:t>
            </a:r>
            <a:endParaRPr lang="en-US" sz="1020" dirty="0"/>
          </a:p>
          <a:p>
            <a:pPr marL="177800" indent="-177800">
              <a:buSzPct val="100000"/>
              <a:buChar char="•"/>
            </a:pPr>
            <a:r>
              <a:rPr lang="en-US" sz="1020" dirty="0">
                <a:solidFill>
                  <a:srgbClr val="25364A"/>
                </a:solidFill>
              </a:rPr>
              <a:t>Root cause: Repeated timeout from a third-party payment gateway.</a:t>
            </a:r>
            <a:endParaRPr lang="en-US" sz="1020" dirty="0"/>
          </a:p>
          <a:p>
            <a:pPr marL="177800" indent="-177800">
              <a:buSzPct val="100000"/>
              <a:buChar char="•"/>
            </a:pPr>
            <a:r>
              <a:rPr lang="en-US" sz="1020" dirty="0">
                <a:solidFill>
                  <a:srgbClr val="25364A"/>
                </a:solidFill>
              </a:rPr>
              <a:t>Customer handling: Billing Support issued status updates and tracked pending transactions.</a:t>
            </a:r>
            <a:endParaRPr lang="en-US" sz="1020" dirty="0"/>
          </a:p>
          <a:p>
            <a:pPr marL="177800" indent="-177800">
              <a:buSzPct val="100000"/>
              <a:buChar char="•"/>
            </a:pPr>
            <a:r>
              <a:rPr lang="en-US" sz="1020" dirty="0">
                <a:solidFill>
                  <a:srgbClr val="25364A"/>
                </a:solidFill>
              </a:rPr>
              <a:t>Corrective action: Automatic failover was introduced and payment monitoring thresholds were revised.</a:t>
            </a:r>
            <a:endParaRPr lang="en-US" sz="1020" dirty="0"/>
          </a:p>
        </p:txBody>
      </p:sp>
      <p:sp>
        <p:nvSpPr>
          <p:cNvPr id="13" name="Shape 11"/>
          <p:cNvSpPr/>
          <p:nvPr/>
        </p:nvSpPr>
        <p:spPr>
          <a:xfrm>
            <a:off x="4352544" y="1444752"/>
            <a:ext cx="3493008" cy="4160520"/>
          </a:xfrm>
          <a:prstGeom prst="roundRect">
            <a:avLst>
              <a:gd name="adj" fmla="val 1047"/>
            </a:avLst>
          </a:prstGeom>
          <a:solidFill>
            <a:srgbClr val="FFFFFF"/>
          </a:solidFill>
          <a:ln w="12700">
            <a:solidFill>
              <a:srgbClr val="D5DEE7"/>
            </a:solidFill>
            <a:prstDash val="solid"/>
          </a:ln>
        </p:spPr>
      </p:sp>
      <p:sp>
        <p:nvSpPr>
          <p:cNvPr id="14" name="Shape 12"/>
          <p:cNvSpPr/>
          <p:nvPr/>
        </p:nvSpPr>
        <p:spPr>
          <a:xfrm>
            <a:off x="4352544" y="1444752"/>
            <a:ext cx="73152" cy="4160520"/>
          </a:xfrm>
          <a:prstGeom prst="rect">
            <a:avLst/>
          </a:prstGeom>
          <a:solidFill>
            <a:srgbClr val="C0392B"/>
          </a:solidFill>
          <a:ln w="12700">
            <a:solidFill>
              <a:srgbClr val="C0392B"/>
            </a:solidFill>
            <a:prstDash val="solid"/>
          </a:ln>
        </p:spPr>
      </p:sp>
      <p:sp>
        <p:nvSpPr>
          <p:cNvPr id="15" name="Text 13"/>
          <p:cNvSpPr/>
          <p:nvPr/>
        </p:nvSpPr>
        <p:spPr>
          <a:xfrm>
            <a:off x="4553712" y="1591056"/>
            <a:ext cx="3127248" cy="274320"/>
          </a:xfrm>
          <a:prstGeom prst="rect">
            <a:avLst/>
          </a:prstGeom>
          <a:noFill/>
          <a:ln/>
        </p:spPr>
        <p:txBody>
          <a:bodyPr wrap="square" lIns="0" tIns="0" rIns="0" bIns="0" rtlCol="0" anchor="ctr"/>
          <a:lstStyle/>
          <a:p>
            <a:pPr marL="0" indent="0">
              <a:buNone/>
            </a:pPr>
            <a:r>
              <a:rPr lang="en-US" sz="1300" b="1" dirty="0">
                <a:solidFill>
                  <a:srgbClr val="C0392B"/>
                </a:solidFill>
              </a:rPr>
              <a:t>Customer Portal Login Failure</a:t>
            </a:r>
            <a:endParaRPr lang="en-US" sz="1300" dirty="0"/>
          </a:p>
        </p:txBody>
      </p:sp>
      <p:sp>
        <p:nvSpPr>
          <p:cNvPr id="16" name="Text 14"/>
          <p:cNvSpPr/>
          <p:nvPr/>
        </p:nvSpPr>
        <p:spPr>
          <a:xfrm>
            <a:off x="4553712" y="1975104"/>
            <a:ext cx="3108960" cy="3502152"/>
          </a:xfrm>
          <a:prstGeom prst="rect">
            <a:avLst/>
          </a:prstGeom>
          <a:noFill/>
          <a:ln/>
        </p:spPr>
        <p:txBody>
          <a:bodyPr wrap="square" lIns="254" tIns="254" rIns="254" bIns="254" rtlCol="0" anchor="t">
            <a:normAutofit/>
          </a:bodyPr>
          <a:lstStyle/>
          <a:p>
            <a:pPr marL="177800" indent="-177800">
              <a:buSzPct val="100000"/>
              <a:buChar char="•"/>
            </a:pPr>
            <a:r>
              <a:rPr lang="en-US" sz="1020" dirty="0">
                <a:solidFill>
                  <a:srgbClr val="25364A"/>
                </a:solidFill>
              </a:rPr>
              <a:t>Incident date: 7 June 2026</a:t>
            </a:r>
            <a:endParaRPr lang="en-US" sz="1020" dirty="0"/>
          </a:p>
          <a:p>
            <a:pPr marL="177800" indent="-177800">
              <a:buSzPct val="100000"/>
              <a:buChar char="•"/>
            </a:pPr>
            <a:r>
              <a:rPr lang="en-US" sz="1020" dirty="0">
                <a:solidFill>
                  <a:srgbClr val="25364A"/>
                </a:solidFill>
              </a:rPr>
              <a:t>Duration: 1 hour and 40 minutes</a:t>
            </a:r>
            <a:endParaRPr lang="en-US" sz="1020" dirty="0"/>
          </a:p>
          <a:p>
            <a:pPr marL="177800" indent="-177800">
              <a:buSzPct val="100000"/>
              <a:buChar char="•"/>
            </a:pPr>
            <a:r>
              <a:rPr lang="en-US" sz="1020" dirty="0">
                <a:solidFill>
                  <a:srgbClr val="25364A"/>
                </a:solidFill>
              </a:rPr>
              <a:t>Customers affected: 860</a:t>
            </a:r>
            <a:endParaRPr lang="en-US" sz="1020" dirty="0"/>
          </a:p>
          <a:p>
            <a:pPr marL="177800" indent="-177800">
              <a:buSzPct val="100000"/>
              <a:buChar char="•"/>
            </a:pPr>
            <a:r>
              <a:rPr lang="en-US" sz="1020" dirty="0">
                <a:solidFill>
                  <a:srgbClr val="25364A"/>
                </a:solidFill>
              </a:rPr>
              <a:t>Observed impact: Customers could not authenticate to the portal.</a:t>
            </a:r>
            <a:endParaRPr lang="en-US" sz="1020" dirty="0"/>
          </a:p>
          <a:p>
            <a:pPr marL="177800" indent="-177800">
              <a:buSzPct val="100000"/>
              <a:buChar char="•"/>
            </a:pPr>
            <a:r>
              <a:rPr lang="en-US" sz="1020" dirty="0">
                <a:solidFill>
                  <a:srgbClr val="25364A"/>
                </a:solidFill>
              </a:rPr>
              <a:t>Root cause: Incorrect authentication-service configuration introduced during deployment.</a:t>
            </a:r>
            <a:endParaRPr lang="en-US" sz="1020" dirty="0"/>
          </a:p>
          <a:p>
            <a:pPr marL="177800" indent="-177800">
              <a:buSzPct val="100000"/>
              <a:buChar char="•"/>
            </a:pPr>
            <a:r>
              <a:rPr lang="en-US" sz="1020" dirty="0">
                <a:solidFill>
                  <a:srgbClr val="25364A"/>
                </a:solidFill>
              </a:rPr>
              <a:t>Customer handling: Login guidance and incident updates were published.</a:t>
            </a:r>
            <a:endParaRPr lang="en-US" sz="1020" dirty="0"/>
          </a:p>
          <a:p>
            <a:pPr marL="177800" indent="-177800">
              <a:buSzPct val="100000"/>
              <a:buChar char="•"/>
            </a:pPr>
            <a:r>
              <a:rPr lang="en-US" sz="1020" dirty="0">
                <a:solidFill>
                  <a:srgbClr val="25364A"/>
                </a:solidFill>
              </a:rPr>
              <a:t>Corrective action: A mandatory configuration review was added to the deployment checklist.</a:t>
            </a:r>
            <a:endParaRPr lang="en-US" sz="1020" dirty="0"/>
          </a:p>
        </p:txBody>
      </p:sp>
      <p:sp>
        <p:nvSpPr>
          <p:cNvPr id="17" name="Shape 15"/>
          <p:cNvSpPr/>
          <p:nvPr/>
        </p:nvSpPr>
        <p:spPr>
          <a:xfrm>
            <a:off x="8046720" y="1444752"/>
            <a:ext cx="3493008" cy="4160520"/>
          </a:xfrm>
          <a:prstGeom prst="roundRect">
            <a:avLst>
              <a:gd name="adj" fmla="val 1047"/>
            </a:avLst>
          </a:prstGeom>
          <a:solidFill>
            <a:srgbClr val="FFFFFF"/>
          </a:solidFill>
          <a:ln w="12700">
            <a:solidFill>
              <a:srgbClr val="D5DEE7"/>
            </a:solidFill>
            <a:prstDash val="solid"/>
          </a:ln>
        </p:spPr>
      </p:sp>
      <p:sp>
        <p:nvSpPr>
          <p:cNvPr id="18" name="Shape 16"/>
          <p:cNvSpPr/>
          <p:nvPr/>
        </p:nvSpPr>
        <p:spPr>
          <a:xfrm>
            <a:off x="8046720" y="1444752"/>
            <a:ext cx="73152" cy="4160520"/>
          </a:xfrm>
          <a:prstGeom prst="rect">
            <a:avLst/>
          </a:prstGeom>
          <a:solidFill>
            <a:srgbClr val="244A73"/>
          </a:solidFill>
          <a:ln w="12700">
            <a:solidFill>
              <a:srgbClr val="244A73"/>
            </a:solidFill>
            <a:prstDash val="solid"/>
          </a:ln>
        </p:spPr>
      </p:sp>
      <p:sp>
        <p:nvSpPr>
          <p:cNvPr id="19" name="Text 17"/>
          <p:cNvSpPr/>
          <p:nvPr/>
        </p:nvSpPr>
        <p:spPr>
          <a:xfrm>
            <a:off x="8247888" y="1591056"/>
            <a:ext cx="3127248" cy="274320"/>
          </a:xfrm>
          <a:prstGeom prst="rect">
            <a:avLst/>
          </a:prstGeom>
          <a:noFill/>
          <a:ln/>
        </p:spPr>
        <p:txBody>
          <a:bodyPr wrap="square" lIns="0" tIns="0" rIns="0" bIns="0" rtlCol="0" anchor="ctr"/>
          <a:lstStyle/>
          <a:p>
            <a:pPr marL="0" indent="0">
              <a:buNone/>
            </a:pPr>
            <a:r>
              <a:rPr lang="en-US" sz="1300" b="1" dirty="0">
                <a:solidFill>
                  <a:srgbClr val="244A73"/>
                </a:solidFill>
              </a:rPr>
              <a:t>Regional Connectivity Disruption</a:t>
            </a:r>
            <a:endParaRPr lang="en-US" sz="1300" dirty="0"/>
          </a:p>
        </p:txBody>
      </p:sp>
      <p:sp>
        <p:nvSpPr>
          <p:cNvPr id="20" name="Text 18"/>
          <p:cNvSpPr/>
          <p:nvPr/>
        </p:nvSpPr>
        <p:spPr>
          <a:xfrm>
            <a:off x="8247888" y="1975104"/>
            <a:ext cx="3108960" cy="3502152"/>
          </a:xfrm>
          <a:prstGeom prst="rect">
            <a:avLst/>
          </a:prstGeom>
          <a:noFill/>
          <a:ln/>
        </p:spPr>
        <p:txBody>
          <a:bodyPr wrap="square" lIns="254" tIns="254" rIns="254" bIns="254" rtlCol="0" anchor="t">
            <a:normAutofit/>
          </a:bodyPr>
          <a:lstStyle/>
          <a:p>
            <a:pPr marL="177800" indent="-177800">
              <a:buSzPct val="100000"/>
              <a:buChar char="•"/>
            </a:pPr>
            <a:r>
              <a:rPr lang="en-US" sz="1020" dirty="0">
                <a:solidFill>
                  <a:srgbClr val="25364A"/>
                </a:solidFill>
              </a:rPr>
              <a:t>Incident date: 12 August 2026</a:t>
            </a:r>
            <a:endParaRPr lang="en-US" sz="1020" dirty="0"/>
          </a:p>
          <a:p>
            <a:pPr marL="177800" indent="-177800">
              <a:buSzPct val="100000"/>
              <a:buChar char="•"/>
            </a:pPr>
            <a:r>
              <a:rPr lang="en-US" sz="1020" dirty="0">
                <a:solidFill>
                  <a:srgbClr val="25364A"/>
                </a:solidFill>
              </a:rPr>
              <a:t>Duration: 3 hours and 10 minutes</a:t>
            </a:r>
            <a:endParaRPr lang="en-US" sz="1020" dirty="0"/>
          </a:p>
          <a:p>
            <a:pPr marL="177800" indent="-177800">
              <a:buSzPct val="100000"/>
              <a:buChar char="•"/>
            </a:pPr>
            <a:r>
              <a:rPr lang="en-US" sz="1020" dirty="0">
                <a:solidFill>
                  <a:srgbClr val="25364A"/>
                </a:solidFill>
              </a:rPr>
              <a:t>Customers affected: 1,580</a:t>
            </a:r>
            <a:endParaRPr lang="en-US" sz="1020" dirty="0"/>
          </a:p>
          <a:p>
            <a:pPr marL="177800" indent="-177800">
              <a:buSzPct val="100000"/>
              <a:buChar char="•"/>
            </a:pPr>
            <a:r>
              <a:rPr lang="en-US" sz="1020" dirty="0">
                <a:solidFill>
                  <a:srgbClr val="25364A"/>
                </a:solidFill>
              </a:rPr>
              <a:t>Observed impact: Regional customers experienced inability to connect and high latency.</a:t>
            </a:r>
            <a:endParaRPr lang="en-US" sz="1020" dirty="0"/>
          </a:p>
          <a:p>
            <a:pPr marL="177800" indent="-177800">
              <a:buSzPct val="100000"/>
              <a:buChar char="•"/>
            </a:pPr>
            <a:r>
              <a:rPr lang="en-US" sz="1020" dirty="0">
                <a:solidFill>
                  <a:srgbClr val="25364A"/>
                </a:solidFill>
              </a:rPr>
              <a:t>Root cause: Equipment failure in the network provider environment.</a:t>
            </a:r>
            <a:endParaRPr lang="en-US" sz="1020" dirty="0"/>
          </a:p>
          <a:p>
            <a:pPr marL="177800" indent="-177800">
              <a:buSzPct val="100000"/>
              <a:buChar char="•"/>
            </a:pPr>
            <a:r>
              <a:rPr lang="en-US" sz="1020" dirty="0">
                <a:solidFill>
                  <a:srgbClr val="25364A"/>
                </a:solidFill>
              </a:rPr>
              <a:t>Customer handling: Connectivity Support coordinated updates and case prioritization.</a:t>
            </a:r>
            <a:endParaRPr lang="en-US" sz="1020" dirty="0"/>
          </a:p>
          <a:p>
            <a:pPr marL="177800" indent="-177800">
              <a:buSzPct val="100000"/>
              <a:buChar char="•"/>
            </a:pPr>
            <a:r>
              <a:rPr lang="en-US" sz="1020" dirty="0">
                <a:solidFill>
                  <a:srgbClr val="25364A"/>
                </a:solidFill>
              </a:rPr>
              <a:t>Corrective action: Secondary routing was activated and provider escalation was strengthened.</a:t>
            </a:r>
            <a:endParaRPr lang="en-US" sz="1020" dirty="0"/>
          </a:p>
        </p:txBody>
      </p:sp>
      <p:sp>
        <p:nvSpPr>
          <p:cNvPr id="21" name="Shape 19"/>
          <p:cNvSpPr/>
          <p:nvPr/>
        </p:nvSpPr>
        <p:spPr>
          <a:xfrm>
            <a:off x="658368" y="5888736"/>
            <a:ext cx="10881360" cy="411480"/>
          </a:xfrm>
          <a:prstGeom prst="roundRect">
            <a:avLst>
              <a:gd name="adj" fmla="val 6667"/>
            </a:avLst>
          </a:prstGeom>
          <a:solidFill>
            <a:srgbClr val="E7F4F3"/>
          </a:solidFill>
          <a:ln w="12700">
            <a:solidFill>
              <a:srgbClr val="B8DCD9"/>
            </a:solidFill>
            <a:prstDash val="solid"/>
          </a:ln>
        </p:spPr>
      </p:sp>
      <p:sp>
        <p:nvSpPr>
          <p:cNvPr id="22" name="Text 20"/>
          <p:cNvSpPr/>
          <p:nvPr/>
        </p:nvSpPr>
        <p:spPr>
          <a:xfrm>
            <a:off x="822960" y="5998464"/>
            <a:ext cx="10515600" cy="164592"/>
          </a:xfrm>
          <a:prstGeom prst="rect">
            <a:avLst/>
          </a:prstGeom>
          <a:noFill/>
          <a:ln/>
        </p:spPr>
        <p:txBody>
          <a:bodyPr wrap="square" lIns="0" tIns="0" rIns="0" bIns="0" rtlCol="0" anchor="ctr"/>
          <a:lstStyle/>
          <a:p>
            <a:pPr marL="0" indent="0" algn="ctr">
              <a:buNone/>
            </a:pPr>
            <a:r>
              <a:rPr lang="en-US" sz="950" b="1" dirty="0">
                <a:solidFill>
                  <a:srgbClr val="244A73"/>
                </a:solidFill>
              </a:rPr>
              <a:t>Recurring-incident analysis should verify whether corrective actions reduce future ticket volume and recovery time.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B"/>
        </a:solidFill>
        <a:effectLst/>
      </p:bgPr>
    </p:bg>
    <p:spTree>
      <p:nvGrpSpPr>
        <p:cNvPr id="1" name=""/>
        <p:cNvGrpSpPr/>
        <p:nvPr/>
      </p:nvGrpSpPr>
      <p:grpSpPr>
        <a:xfrm>
          <a:off x="0" y="0"/>
          <a:ext cx="1" cy="1"/>
          <a:chOff x="0" y="0"/>
          <a:chExt cx="1" cy="1"/>
        </a:xfrm>
      </p:grpSpPr>
      <p:sp>
        <p:nvSpPr>
          <p:cNvPr id="2" name="Shape 0"/>
          <p:cNvSpPr/>
          <p:nvPr/>
        </p:nvSpPr>
        <p:spPr>
          <a:xfrm>
            <a:off x="0" y="0"/>
            <a:ext cx="12191695" cy="128016"/>
          </a:xfrm>
          <a:prstGeom prst="rect">
            <a:avLst/>
          </a:prstGeom>
          <a:solidFill>
            <a:srgbClr val="1A9E98"/>
          </a:solidFill>
          <a:ln w="12700">
            <a:solidFill>
              <a:srgbClr val="1A9E98"/>
            </a:solidFill>
            <a:prstDash val="solid"/>
          </a:ln>
        </p:spPr>
      </p:sp>
      <p:sp>
        <p:nvSpPr>
          <p:cNvPr id="3" name="Text 1"/>
          <p:cNvSpPr/>
          <p:nvPr/>
        </p:nvSpPr>
        <p:spPr>
          <a:xfrm>
            <a:off x="502920" y="228600"/>
            <a:ext cx="4572000" cy="201168"/>
          </a:xfrm>
          <a:prstGeom prst="rect">
            <a:avLst/>
          </a:prstGeom>
          <a:noFill/>
          <a:ln/>
        </p:spPr>
        <p:txBody>
          <a:bodyPr wrap="square" lIns="0" tIns="0" rIns="0" bIns="0" rtlCol="0" anchor="ctr"/>
          <a:lstStyle/>
          <a:p>
            <a:pPr marL="0" indent="0">
              <a:buNone/>
            </a:pPr>
            <a:r>
              <a:rPr lang="en-US" sz="800" b="1" dirty="0">
                <a:solidFill>
                  <a:srgbClr val="65758B"/>
                </a:solidFill>
              </a:rPr>
              <a:t>NORTHSTAR BUSINESS SERVICES PVT. LTD.</a:t>
            </a:r>
            <a:endParaRPr lang="en-US" sz="800" dirty="0"/>
          </a:p>
        </p:txBody>
      </p:sp>
      <p:sp>
        <p:nvSpPr>
          <p:cNvPr id="4" name="Text 2"/>
          <p:cNvSpPr/>
          <p:nvPr/>
        </p:nvSpPr>
        <p:spPr>
          <a:xfrm>
            <a:off x="9235440" y="228600"/>
            <a:ext cx="2423160" cy="201168"/>
          </a:xfrm>
          <a:prstGeom prst="rect">
            <a:avLst/>
          </a:prstGeom>
          <a:noFill/>
          <a:ln/>
        </p:spPr>
        <p:txBody>
          <a:bodyPr wrap="square" lIns="0" tIns="0" rIns="0" bIns="0" rtlCol="0" anchor="ctr"/>
          <a:lstStyle/>
          <a:p>
            <a:pPr marL="0" indent="0" algn="r">
              <a:buNone/>
            </a:pPr>
            <a:r>
              <a:rPr lang="en-US" sz="800" dirty="0">
                <a:solidFill>
                  <a:srgbClr val="65758B"/>
                </a:solidFill>
              </a:rPr>
              <a:t>Team Performance</a:t>
            </a:r>
            <a:endParaRPr lang="en-US" sz="800" dirty="0"/>
          </a:p>
        </p:txBody>
      </p:sp>
      <p:sp>
        <p:nvSpPr>
          <p:cNvPr id="5" name="Text 3"/>
          <p:cNvSpPr/>
          <p:nvPr/>
        </p:nvSpPr>
        <p:spPr>
          <a:xfrm>
            <a:off x="566928" y="630936"/>
            <a:ext cx="10881360" cy="438912"/>
          </a:xfrm>
          <a:prstGeom prst="rect">
            <a:avLst/>
          </a:prstGeom>
          <a:noFill/>
          <a:ln/>
        </p:spPr>
        <p:txBody>
          <a:bodyPr wrap="square" lIns="0" tIns="0" rIns="0" bIns="0" rtlCol="0" anchor="ctr"/>
          <a:lstStyle/>
          <a:p>
            <a:pPr marL="0" indent="0">
              <a:buNone/>
            </a:pPr>
            <a:r>
              <a:rPr lang="en-US" sz="2500" b="1" dirty="0">
                <a:solidFill>
                  <a:srgbClr val="17365D"/>
                </a:solidFill>
              </a:rPr>
              <a:t>Support Team Performance Review</a:t>
            </a:r>
            <a:endParaRPr lang="en-US" sz="2500" dirty="0"/>
          </a:p>
        </p:txBody>
      </p:sp>
      <p:sp>
        <p:nvSpPr>
          <p:cNvPr id="6" name="Text 4"/>
          <p:cNvSpPr/>
          <p:nvPr/>
        </p:nvSpPr>
        <p:spPr>
          <a:xfrm>
            <a:off x="576072" y="1078992"/>
            <a:ext cx="10789920" cy="274320"/>
          </a:xfrm>
          <a:prstGeom prst="rect">
            <a:avLst/>
          </a:prstGeom>
          <a:noFill/>
          <a:ln/>
        </p:spPr>
        <p:txBody>
          <a:bodyPr wrap="square" lIns="0" tIns="0" rIns="0" bIns="0" rtlCol="0" anchor="ctr"/>
          <a:lstStyle/>
          <a:p>
            <a:pPr marL="0" indent="0">
              <a:buNone/>
            </a:pPr>
            <a:r>
              <a:rPr lang="en-US" sz="1050" dirty="0">
                <a:solidFill>
                  <a:srgbClr val="65758B"/>
                </a:solidFill>
              </a:rPr>
              <a:t>Team-level results show different workload patterns, case complexity, and improvement needs.</a:t>
            </a:r>
            <a:endParaRPr lang="en-US" sz="1050" dirty="0"/>
          </a:p>
        </p:txBody>
      </p:sp>
      <p:sp>
        <p:nvSpPr>
          <p:cNvPr id="7" name="Shape 5"/>
          <p:cNvSpPr/>
          <p:nvPr/>
        </p:nvSpPr>
        <p:spPr>
          <a:xfrm>
            <a:off x="566928" y="6437376"/>
            <a:ext cx="11018520" cy="13716"/>
          </a:xfrm>
          <a:prstGeom prst="rect">
            <a:avLst/>
          </a:prstGeom>
          <a:solidFill>
            <a:srgbClr val="D5DEE7"/>
          </a:solidFill>
          <a:ln w="12700">
            <a:solidFill>
              <a:srgbClr val="D5DEE7"/>
            </a:solidFill>
            <a:prstDash val="solid"/>
          </a:ln>
        </p:spPr>
      </p:sp>
      <p:sp>
        <p:nvSpPr>
          <p:cNvPr id="8" name="Text 6"/>
          <p:cNvSpPr/>
          <p:nvPr/>
        </p:nvSpPr>
        <p:spPr>
          <a:xfrm>
            <a:off x="566928" y="6528816"/>
            <a:ext cx="4572000" cy="164592"/>
          </a:xfrm>
          <a:prstGeom prst="rect">
            <a:avLst/>
          </a:prstGeom>
          <a:noFill/>
          <a:ln/>
        </p:spPr>
        <p:txBody>
          <a:bodyPr wrap="square" lIns="0" tIns="0" rIns="0" bIns="0" rtlCol="0" anchor="ctr"/>
          <a:lstStyle/>
          <a:p>
            <a:pPr marL="0" indent="0">
              <a:buNone/>
            </a:pPr>
            <a:r>
              <a:rPr lang="en-US" sz="700" dirty="0">
                <a:solidFill>
                  <a:srgbClr val="65758B"/>
                </a:solidFill>
              </a:rPr>
              <a:t>Internal Use | Reporting period: January to August 2026</a:t>
            </a:r>
            <a:endParaRPr lang="en-US" sz="700" dirty="0"/>
          </a:p>
        </p:txBody>
      </p:sp>
      <p:sp>
        <p:nvSpPr>
          <p:cNvPr id="9" name="Shape 7"/>
          <p:cNvSpPr/>
          <p:nvPr/>
        </p:nvSpPr>
        <p:spPr>
          <a:xfrm>
            <a:off x="658368" y="1444752"/>
            <a:ext cx="3493008" cy="1572768"/>
          </a:xfrm>
          <a:prstGeom prst="roundRect">
            <a:avLst>
              <a:gd name="adj" fmla="val 2326"/>
            </a:avLst>
          </a:prstGeom>
          <a:solidFill>
            <a:srgbClr val="FFFFFF"/>
          </a:solidFill>
          <a:ln w="12700">
            <a:solidFill>
              <a:srgbClr val="D5DEE7"/>
            </a:solidFill>
            <a:prstDash val="solid"/>
          </a:ln>
        </p:spPr>
      </p:sp>
      <p:sp>
        <p:nvSpPr>
          <p:cNvPr id="10" name="Shape 8"/>
          <p:cNvSpPr/>
          <p:nvPr/>
        </p:nvSpPr>
        <p:spPr>
          <a:xfrm>
            <a:off x="658368" y="1444752"/>
            <a:ext cx="73152" cy="1572768"/>
          </a:xfrm>
          <a:prstGeom prst="rect">
            <a:avLst/>
          </a:prstGeom>
          <a:solidFill>
            <a:srgbClr val="2E8B57"/>
          </a:solidFill>
          <a:ln w="12700">
            <a:solidFill>
              <a:srgbClr val="2E8B57"/>
            </a:solidFill>
            <a:prstDash val="solid"/>
          </a:ln>
        </p:spPr>
      </p:sp>
      <p:sp>
        <p:nvSpPr>
          <p:cNvPr id="11" name="Text 9"/>
          <p:cNvSpPr/>
          <p:nvPr/>
        </p:nvSpPr>
        <p:spPr>
          <a:xfrm>
            <a:off x="859536" y="1591056"/>
            <a:ext cx="3127248" cy="274320"/>
          </a:xfrm>
          <a:prstGeom prst="rect">
            <a:avLst/>
          </a:prstGeom>
          <a:noFill/>
          <a:ln/>
        </p:spPr>
        <p:txBody>
          <a:bodyPr wrap="square" lIns="0" tIns="0" rIns="0" bIns="0" rtlCol="0" anchor="ctr"/>
          <a:lstStyle/>
          <a:p>
            <a:pPr marL="0" indent="0">
              <a:buNone/>
            </a:pPr>
            <a:r>
              <a:rPr lang="en-US" sz="1300" b="1" dirty="0">
                <a:solidFill>
                  <a:srgbClr val="2E8B57"/>
                </a:solidFill>
              </a:rPr>
              <a:t>Account Support</a:t>
            </a:r>
            <a:endParaRPr lang="en-US" sz="1300" dirty="0"/>
          </a:p>
        </p:txBody>
      </p:sp>
      <p:sp>
        <p:nvSpPr>
          <p:cNvPr id="12" name="Text 10"/>
          <p:cNvSpPr/>
          <p:nvPr/>
        </p:nvSpPr>
        <p:spPr>
          <a:xfrm>
            <a:off x="859536" y="1975104"/>
            <a:ext cx="3108960" cy="914400"/>
          </a:xfrm>
          <a:prstGeom prst="rect">
            <a:avLst/>
          </a:prstGeom>
          <a:noFill/>
          <a:ln/>
        </p:spPr>
        <p:txBody>
          <a:bodyPr wrap="square" lIns="254" tIns="254" rIns="254" bIns="254" rtlCol="0" anchor="t">
            <a:normAutofit/>
          </a:bodyPr>
          <a:lstStyle/>
          <a:p>
            <a:pPr marL="0" indent="0">
              <a:buNone/>
            </a:pPr>
            <a:r>
              <a:rPr lang="en-US" sz="1070" dirty="0">
                <a:solidFill>
                  <a:srgbClr val="25364A"/>
                </a:solidFill>
              </a:rPr>
              <a:t>Resolved 980 tickets. Average resolution time was 7.2 hours and satisfaction was 4.4 out of 5. Strong performance was supported by standardized procedures and experienced case ownership.</a:t>
            </a:r>
            <a:endParaRPr lang="en-US" sz="1070" dirty="0"/>
          </a:p>
        </p:txBody>
      </p:sp>
      <p:sp>
        <p:nvSpPr>
          <p:cNvPr id="13" name="Shape 11"/>
          <p:cNvSpPr/>
          <p:nvPr/>
        </p:nvSpPr>
        <p:spPr>
          <a:xfrm>
            <a:off x="4352544" y="1444752"/>
            <a:ext cx="3493008" cy="1572768"/>
          </a:xfrm>
          <a:prstGeom prst="roundRect">
            <a:avLst>
              <a:gd name="adj" fmla="val 2326"/>
            </a:avLst>
          </a:prstGeom>
          <a:solidFill>
            <a:srgbClr val="FFFFFF"/>
          </a:solidFill>
          <a:ln w="12700">
            <a:solidFill>
              <a:srgbClr val="D5DEE7"/>
            </a:solidFill>
            <a:prstDash val="solid"/>
          </a:ln>
        </p:spPr>
      </p:sp>
      <p:sp>
        <p:nvSpPr>
          <p:cNvPr id="14" name="Shape 12"/>
          <p:cNvSpPr/>
          <p:nvPr/>
        </p:nvSpPr>
        <p:spPr>
          <a:xfrm>
            <a:off x="4352544" y="1444752"/>
            <a:ext cx="73152" cy="1572768"/>
          </a:xfrm>
          <a:prstGeom prst="rect">
            <a:avLst/>
          </a:prstGeom>
          <a:solidFill>
            <a:srgbClr val="1A9E98"/>
          </a:solidFill>
          <a:ln w="12700">
            <a:solidFill>
              <a:srgbClr val="1A9E98"/>
            </a:solidFill>
            <a:prstDash val="solid"/>
          </a:ln>
        </p:spPr>
      </p:sp>
      <p:sp>
        <p:nvSpPr>
          <p:cNvPr id="15" name="Text 13"/>
          <p:cNvSpPr/>
          <p:nvPr/>
        </p:nvSpPr>
        <p:spPr>
          <a:xfrm>
            <a:off x="4553712" y="1591056"/>
            <a:ext cx="3127248" cy="274320"/>
          </a:xfrm>
          <a:prstGeom prst="rect">
            <a:avLst/>
          </a:prstGeom>
          <a:noFill/>
          <a:ln/>
        </p:spPr>
        <p:txBody>
          <a:bodyPr wrap="square" lIns="0" tIns="0" rIns="0" bIns="0" rtlCol="0" anchor="ctr"/>
          <a:lstStyle/>
          <a:p>
            <a:pPr marL="0" indent="0">
              <a:buNone/>
            </a:pPr>
            <a:r>
              <a:rPr lang="en-US" sz="1300" b="1" dirty="0">
                <a:solidFill>
                  <a:srgbClr val="1A9E98"/>
                </a:solidFill>
              </a:rPr>
              <a:t>Billing Support</a:t>
            </a:r>
            <a:endParaRPr lang="en-US" sz="1300" dirty="0"/>
          </a:p>
        </p:txBody>
      </p:sp>
      <p:sp>
        <p:nvSpPr>
          <p:cNvPr id="16" name="Text 14"/>
          <p:cNvSpPr/>
          <p:nvPr/>
        </p:nvSpPr>
        <p:spPr>
          <a:xfrm>
            <a:off x="4553712" y="1975104"/>
            <a:ext cx="3108960" cy="914400"/>
          </a:xfrm>
          <a:prstGeom prst="rect">
            <a:avLst/>
          </a:prstGeom>
          <a:noFill/>
          <a:ln/>
        </p:spPr>
        <p:txBody>
          <a:bodyPr wrap="square" lIns="254" tIns="254" rIns="254" bIns="254" rtlCol="0" anchor="t">
            <a:normAutofit/>
          </a:bodyPr>
          <a:lstStyle/>
          <a:p>
            <a:pPr marL="0" indent="0">
              <a:buNone/>
            </a:pPr>
            <a:r>
              <a:rPr lang="en-US" sz="1070" dirty="0">
                <a:solidFill>
                  <a:srgbClr val="25364A"/>
                </a:solidFill>
              </a:rPr>
              <a:t>Resolved 810 tickets. Average resolution time was 9.4 hours and satisfaction was 4.2. Payment-gateway disruption increased workload, but the team maintained SLA compliance above target.</a:t>
            </a:r>
            <a:endParaRPr lang="en-US" sz="1070" dirty="0"/>
          </a:p>
        </p:txBody>
      </p:sp>
      <p:sp>
        <p:nvSpPr>
          <p:cNvPr id="17" name="Shape 15"/>
          <p:cNvSpPr/>
          <p:nvPr/>
        </p:nvSpPr>
        <p:spPr>
          <a:xfrm>
            <a:off x="8046720" y="1444752"/>
            <a:ext cx="3493008" cy="1572768"/>
          </a:xfrm>
          <a:prstGeom prst="roundRect">
            <a:avLst>
              <a:gd name="adj" fmla="val 2326"/>
            </a:avLst>
          </a:prstGeom>
          <a:solidFill>
            <a:srgbClr val="FFFFFF"/>
          </a:solidFill>
          <a:ln w="12700">
            <a:solidFill>
              <a:srgbClr val="D5DEE7"/>
            </a:solidFill>
            <a:prstDash val="solid"/>
          </a:ln>
        </p:spPr>
      </p:sp>
      <p:sp>
        <p:nvSpPr>
          <p:cNvPr id="18" name="Shape 16"/>
          <p:cNvSpPr/>
          <p:nvPr/>
        </p:nvSpPr>
        <p:spPr>
          <a:xfrm>
            <a:off x="8046720" y="1444752"/>
            <a:ext cx="73152" cy="1572768"/>
          </a:xfrm>
          <a:prstGeom prst="rect">
            <a:avLst/>
          </a:prstGeom>
          <a:solidFill>
            <a:srgbClr val="2E8B57"/>
          </a:solidFill>
          <a:ln w="12700">
            <a:solidFill>
              <a:srgbClr val="2E8B57"/>
            </a:solidFill>
            <a:prstDash val="solid"/>
          </a:ln>
        </p:spPr>
      </p:sp>
      <p:sp>
        <p:nvSpPr>
          <p:cNvPr id="19" name="Text 17"/>
          <p:cNvSpPr/>
          <p:nvPr/>
        </p:nvSpPr>
        <p:spPr>
          <a:xfrm>
            <a:off x="8247888" y="1591056"/>
            <a:ext cx="3127248" cy="274320"/>
          </a:xfrm>
          <a:prstGeom prst="rect">
            <a:avLst/>
          </a:prstGeom>
          <a:noFill/>
          <a:ln/>
        </p:spPr>
        <p:txBody>
          <a:bodyPr wrap="square" lIns="0" tIns="0" rIns="0" bIns="0" rtlCol="0" anchor="ctr"/>
          <a:lstStyle/>
          <a:p>
            <a:pPr marL="0" indent="0">
              <a:buNone/>
            </a:pPr>
            <a:r>
              <a:rPr lang="en-US" sz="1300" b="1" dirty="0">
                <a:solidFill>
                  <a:srgbClr val="2E8B57"/>
                </a:solidFill>
              </a:rPr>
              <a:t>General Support</a:t>
            </a:r>
            <a:endParaRPr lang="en-US" sz="1300" dirty="0"/>
          </a:p>
        </p:txBody>
      </p:sp>
      <p:sp>
        <p:nvSpPr>
          <p:cNvPr id="20" name="Text 18"/>
          <p:cNvSpPr/>
          <p:nvPr/>
        </p:nvSpPr>
        <p:spPr>
          <a:xfrm>
            <a:off x="8247888" y="1975104"/>
            <a:ext cx="3108960" cy="914400"/>
          </a:xfrm>
          <a:prstGeom prst="rect">
            <a:avLst/>
          </a:prstGeom>
          <a:noFill/>
          <a:ln/>
        </p:spPr>
        <p:txBody>
          <a:bodyPr wrap="square" lIns="254" tIns="254" rIns="254" bIns="254" rtlCol="0" anchor="t">
            <a:normAutofit/>
          </a:bodyPr>
          <a:lstStyle/>
          <a:p>
            <a:pPr marL="0" indent="0">
              <a:buNone/>
            </a:pPr>
            <a:r>
              <a:rPr lang="en-US" sz="1070" dirty="0">
                <a:solidFill>
                  <a:srgbClr val="25364A"/>
                </a:solidFill>
              </a:rPr>
              <a:t>Resolved 880 tickets. Average resolution time was 5.5 hours and satisfaction was 4.5. The team recorded the fastest resolution and highest satisfaction result.</a:t>
            </a:r>
            <a:endParaRPr lang="en-US" sz="1070" dirty="0"/>
          </a:p>
        </p:txBody>
      </p:sp>
      <p:sp>
        <p:nvSpPr>
          <p:cNvPr id="21" name="Shape 19"/>
          <p:cNvSpPr/>
          <p:nvPr/>
        </p:nvSpPr>
        <p:spPr>
          <a:xfrm>
            <a:off x="658368" y="3273552"/>
            <a:ext cx="5349240" cy="1965960"/>
          </a:xfrm>
          <a:prstGeom prst="roundRect">
            <a:avLst>
              <a:gd name="adj" fmla="val 1860"/>
            </a:avLst>
          </a:prstGeom>
          <a:solidFill>
            <a:srgbClr val="FFFFFF"/>
          </a:solidFill>
          <a:ln w="12700">
            <a:solidFill>
              <a:srgbClr val="D5DEE7"/>
            </a:solidFill>
            <a:prstDash val="solid"/>
          </a:ln>
        </p:spPr>
      </p:sp>
      <p:sp>
        <p:nvSpPr>
          <p:cNvPr id="22" name="Shape 20"/>
          <p:cNvSpPr/>
          <p:nvPr/>
        </p:nvSpPr>
        <p:spPr>
          <a:xfrm>
            <a:off x="658368" y="3273552"/>
            <a:ext cx="73152" cy="1965960"/>
          </a:xfrm>
          <a:prstGeom prst="rect">
            <a:avLst/>
          </a:prstGeom>
          <a:solidFill>
            <a:srgbClr val="C0392B"/>
          </a:solidFill>
          <a:ln w="12700">
            <a:solidFill>
              <a:srgbClr val="C0392B"/>
            </a:solidFill>
            <a:prstDash val="solid"/>
          </a:ln>
        </p:spPr>
      </p:sp>
      <p:sp>
        <p:nvSpPr>
          <p:cNvPr id="23" name="Text 21"/>
          <p:cNvSpPr/>
          <p:nvPr/>
        </p:nvSpPr>
        <p:spPr>
          <a:xfrm>
            <a:off x="859536" y="3419856"/>
            <a:ext cx="4983480" cy="274320"/>
          </a:xfrm>
          <a:prstGeom prst="rect">
            <a:avLst/>
          </a:prstGeom>
          <a:noFill/>
          <a:ln/>
        </p:spPr>
        <p:txBody>
          <a:bodyPr wrap="square" lIns="0" tIns="0" rIns="0" bIns="0" rtlCol="0" anchor="ctr"/>
          <a:lstStyle/>
          <a:p>
            <a:pPr marL="0" indent="0">
              <a:buNone/>
            </a:pPr>
            <a:r>
              <a:rPr lang="en-US" sz="1300" b="1" dirty="0">
                <a:solidFill>
                  <a:srgbClr val="C0392B"/>
                </a:solidFill>
              </a:rPr>
              <a:t>Technical Support</a:t>
            </a:r>
            <a:endParaRPr lang="en-US" sz="1300" dirty="0"/>
          </a:p>
        </p:txBody>
      </p:sp>
      <p:sp>
        <p:nvSpPr>
          <p:cNvPr id="24" name="Text 22"/>
          <p:cNvSpPr/>
          <p:nvPr/>
        </p:nvSpPr>
        <p:spPr>
          <a:xfrm>
            <a:off x="859536" y="3803904"/>
            <a:ext cx="4965192" cy="1307592"/>
          </a:xfrm>
          <a:prstGeom prst="rect">
            <a:avLst/>
          </a:prstGeom>
          <a:noFill/>
          <a:ln/>
        </p:spPr>
        <p:txBody>
          <a:bodyPr wrap="square" lIns="254" tIns="254" rIns="254" bIns="254" rtlCol="0" anchor="t">
            <a:normAutofit/>
          </a:bodyPr>
          <a:lstStyle/>
          <a:p>
            <a:pPr marL="0" indent="0">
              <a:buNone/>
            </a:pPr>
            <a:r>
              <a:rPr lang="en-US" sz="1120" dirty="0">
                <a:solidFill>
                  <a:srgbClr val="25364A"/>
                </a:solidFill>
              </a:rPr>
              <a:t>Resolved 1,060 tickets, the highest team volume. Average resolution time was 18.6 hours and satisfaction was 4.0. Complex errors, authentication failures, data-migration problems, and specialist dependency contributed to the longest resolution time and below-target SLA compliance.</a:t>
            </a:r>
            <a:endParaRPr lang="en-US" sz="1120" dirty="0"/>
          </a:p>
        </p:txBody>
      </p:sp>
      <p:sp>
        <p:nvSpPr>
          <p:cNvPr id="25" name="Shape 23"/>
          <p:cNvSpPr/>
          <p:nvPr/>
        </p:nvSpPr>
        <p:spPr>
          <a:xfrm>
            <a:off x="6199632" y="3273552"/>
            <a:ext cx="5349240" cy="1965960"/>
          </a:xfrm>
          <a:prstGeom prst="roundRect">
            <a:avLst>
              <a:gd name="adj" fmla="val 1860"/>
            </a:avLst>
          </a:prstGeom>
          <a:solidFill>
            <a:srgbClr val="FFFFFF"/>
          </a:solidFill>
          <a:ln w="12700">
            <a:solidFill>
              <a:srgbClr val="D5DEE7"/>
            </a:solidFill>
            <a:prstDash val="solid"/>
          </a:ln>
        </p:spPr>
      </p:sp>
      <p:sp>
        <p:nvSpPr>
          <p:cNvPr id="26" name="Shape 24"/>
          <p:cNvSpPr/>
          <p:nvPr/>
        </p:nvSpPr>
        <p:spPr>
          <a:xfrm>
            <a:off x="6199632" y="3273552"/>
            <a:ext cx="73152" cy="1965960"/>
          </a:xfrm>
          <a:prstGeom prst="rect">
            <a:avLst/>
          </a:prstGeom>
          <a:solidFill>
            <a:srgbClr val="E67E22"/>
          </a:solidFill>
          <a:ln w="12700">
            <a:solidFill>
              <a:srgbClr val="E67E22"/>
            </a:solidFill>
            <a:prstDash val="solid"/>
          </a:ln>
        </p:spPr>
      </p:sp>
      <p:sp>
        <p:nvSpPr>
          <p:cNvPr id="27" name="Text 25"/>
          <p:cNvSpPr/>
          <p:nvPr/>
        </p:nvSpPr>
        <p:spPr>
          <a:xfrm>
            <a:off x="6400800" y="3419856"/>
            <a:ext cx="4983480" cy="274320"/>
          </a:xfrm>
          <a:prstGeom prst="rect">
            <a:avLst/>
          </a:prstGeom>
          <a:noFill/>
          <a:ln/>
        </p:spPr>
        <p:txBody>
          <a:bodyPr wrap="square" lIns="0" tIns="0" rIns="0" bIns="0" rtlCol="0" anchor="ctr"/>
          <a:lstStyle/>
          <a:p>
            <a:pPr marL="0" indent="0">
              <a:buNone/>
            </a:pPr>
            <a:r>
              <a:rPr lang="en-US" sz="1300" b="1" dirty="0">
                <a:solidFill>
                  <a:srgbClr val="E67E22"/>
                </a:solidFill>
              </a:rPr>
              <a:t>Connectivity Support</a:t>
            </a:r>
            <a:endParaRPr lang="en-US" sz="1300" dirty="0"/>
          </a:p>
        </p:txBody>
      </p:sp>
      <p:sp>
        <p:nvSpPr>
          <p:cNvPr id="28" name="Text 26"/>
          <p:cNvSpPr/>
          <p:nvPr/>
        </p:nvSpPr>
        <p:spPr>
          <a:xfrm>
            <a:off x="6400800" y="3803904"/>
            <a:ext cx="4965192" cy="1307592"/>
          </a:xfrm>
          <a:prstGeom prst="rect">
            <a:avLst/>
          </a:prstGeom>
          <a:noFill/>
          <a:ln/>
        </p:spPr>
        <p:txBody>
          <a:bodyPr wrap="square" lIns="254" tIns="254" rIns="254" bIns="254" rtlCol="0" anchor="t">
            <a:normAutofit/>
          </a:bodyPr>
          <a:lstStyle/>
          <a:p>
            <a:pPr marL="0" indent="0">
              <a:buNone/>
            </a:pPr>
            <a:r>
              <a:rPr lang="en-US" sz="1120" dirty="0">
                <a:solidFill>
                  <a:srgbClr val="25364A"/>
                </a:solidFill>
              </a:rPr>
              <a:t>Resolved 690 tickets. Average resolution time was 15.8 hours and satisfaction was 4.1. External provider dependency and insufficient weekend specialist coverage affected response consistency, especially during regional service disruption.</a:t>
            </a:r>
            <a:endParaRPr lang="en-US" sz="1120" dirty="0"/>
          </a:p>
        </p:txBody>
      </p:sp>
      <p:sp>
        <p:nvSpPr>
          <p:cNvPr id="29" name="Shape 27"/>
          <p:cNvSpPr/>
          <p:nvPr/>
        </p:nvSpPr>
        <p:spPr>
          <a:xfrm>
            <a:off x="658368" y="5888736"/>
            <a:ext cx="10881360" cy="411480"/>
          </a:xfrm>
          <a:prstGeom prst="roundRect">
            <a:avLst>
              <a:gd name="adj" fmla="val 6667"/>
            </a:avLst>
          </a:prstGeom>
          <a:solidFill>
            <a:srgbClr val="E7F4F3"/>
          </a:solidFill>
          <a:ln w="12700">
            <a:solidFill>
              <a:srgbClr val="B8DCD9"/>
            </a:solidFill>
            <a:prstDash val="solid"/>
          </a:ln>
        </p:spPr>
      </p:sp>
      <p:sp>
        <p:nvSpPr>
          <p:cNvPr id="30" name="Text 28"/>
          <p:cNvSpPr/>
          <p:nvPr/>
        </p:nvSpPr>
        <p:spPr>
          <a:xfrm>
            <a:off x="822960" y="5998464"/>
            <a:ext cx="10515600" cy="164592"/>
          </a:xfrm>
          <a:prstGeom prst="rect">
            <a:avLst/>
          </a:prstGeom>
          <a:noFill/>
          <a:ln/>
        </p:spPr>
        <p:txBody>
          <a:bodyPr wrap="square" lIns="0" tIns="0" rIns="0" bIns="0" rtlCol="0" anchor="ctr"/>
          <a:lstStyle/>
          <a:p>
            <a:pPr marL="0" indent="0" algn="ctr">
              <a:buNone/>
            </a:pPr>
            <a:r>
              <a:rPr lang="en-US" sz="950" b="1" dirty="0">
                <a:solidFill>
                  <a:srgbClr val="244A73"/>
                </a:solidFill>
              </a:rPr>
              <a:t>Priority recommendation: add technical specialist capacity and establish stronger cross-team diagnostic support.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B"/>
        </a:solidFill>
        <a:effectLst/>
      </p:bgPr>
    </p:bg>
    <p:spTree>
      <p:nvGrpSpPr>
        <p:cNvPr id="1" name=""/>
        <p:cNvGrpSpPr/>
        <p:nvPr/>
      </p:nvGrpSpPr>
      <p:grpSpPr>
        <a:xfrm>
          <a:off x="0" y="0"/>
          <a:ext cx="1" cy="1"/>
          <a:chOff x="0" y="0"/>
          <a:chExt cx="1" cy="1"/>
        </a:xfrm>
      </p:grpSpPr>
      <p:sp>
        <p:nvSpPr>
          <p:cNvPr id="2" name="Shape 0"/>
          <p:cNvSpPr/>
          <p:nvPr/>
        </p:nvSpPr>
        <p:spPr>
          <a:xfrm>
            <a:off x="0" y="0"/>
            <a:ext cx="12191695" cy="128016"/>
          </a:xfrm>
          <a:prstGeom prst="rect">
            <a:avLst/>
          </a:prstGeom>
          <a:solidFill>
            <a:srgbClr val="1A9E98"/>
          </a:solidFill>
          <a:ln w="12700">
            <a:solidFill>
              <a:srgbClr val="1A9E98"/>
            </a:solidFill>
            <a:prstDash val="solid"/>
          </a:ln>
        </p:spPr>
      </p:sp>
      <p:sp>
        <p:nvSpPr>
          <p:cNvPr id="3" name="Text 1"/>
          <p:cNvSpPr/>
          <p:nvPr/>
        </p:nvSpPr>
        <p:spPr>
          <a:xfrm>
            <a:off x="502920" y="228600"/>
            <a:ext cx="4572000" cy="201168"/>
          </a:xfrm>
          <a:prstGeom prst="rect">
            <a:avLst/>
          </a:prstGeom>
          <a:noFill/>
          <a:ln/>
        </p:spPr>
        <p:txBody>
          <a:bodyPr wrap="square" lIns="0" tIns="0" rIns="0" bIns="0" rtlCol="0" anchor="ctr"/>
          <a:lstStyle/>
          <a:p>
            <a:pPr marL="0" indent="0">
              <a:buNone/>
            </a:pPr>
            <a:r>
              <a:rPr lang="en-US" sz="800" b="1" dirty="0">
                <a:solidFill>
                  <a:srgbClr val="65758B"/>
                </a:solidFill>
              </a:rPr>
              <a:t>NORTHSTAR BUSINESS SERVICES PVT. LTD.</a:t>
            </a:r>
            <a:endParaRPr lang="en-US" sz="800" dirty="0"/>
          </a:p>
        </p:txBody>
      </p:sp>
      <p:sp>
        <p:nvSpPr>
          <p:cNvPr id="4" name="Text 2"/>
          <p:cNvSpPr/>
          <p:nvPr/>
        </p:nvSpPr>
        <p:spPr>
          <a:xfrm>
            <a:off x="9235440" y="228600"/>
            <a:ext cx="2423160" cy="201168"/>
          </a:xfrm>
          <a:prstGeom prst="rect">
            <a:avLst/>
          </a:prstGeom>
          <a:noFill/>
          <a:ln/>
        </p:spPr>
        <p:txBody>
          <a:bodyPr wrap="square" lIns="0" tIns="0" rIns="0" bIns="0" rtlCol="0" anchor="ctr"/>
          <a:lstStyle/>
          <a:p>
            <a:pPr marL="0" indent="0" algn="r">
              <a:buNone/>
            </a:pPr>
            <a:r>
              <a:rPr lang="en-US" sz="800" dirty="0">
                <a:solidFill>
                  <a:srgbClr val="65758B"/>
                </a:solidFill>
              </a:rPr>
              <a:t>Improvement Plan</a:t>
            </a:r>
            <a:endParaRPr lang="en-US" sz="800" dirty="0"/>
          </a:p>
        </p:txBody>
      </p:sp>
      <p:sp>
        <p:nvSpPr>
          <p:cNvPr id="5" name="Text 3"/>
          <p:cNvSpPr/>
          <p:nvPr/>
        </p:nvSpPr>
        <p:spPr>
          <a:xfrm>
            <a:off x="566928" y="630936"/>
            <a:ext cx="10881360" cy="438912"/>
          </a:xfrm>
          <a:prstGeom prst="rect">
            <a:avLst/>
          </a:prstGeom>
          <a:noFill/>
          <a:ln/>
        </p:spPr>
        <p:txBody>
          <a:bodyPr wrap="square" lIns="0" tIns="0" rIns="0" bIns="0" rtlCol="0" anchor="ctr"/>
          <a:lstStyle/>
          <a:p>
            <a:pPr marL="0" indent="0">
              <a:buNone/>
            </a:pPr>
            <a:r>
              <a:rPr lang="en-US" sz="2500" b="1" dirty="0">
                <a:solidFill>
                  <a:srgbClr val="17365D"/>
                </a:solidFill>
              </a:rPr>
              <a:t>Improvement Programme</a:t>
            </a:r>
            <a:endParaRPr lang="en-US" sz="2500" dirty="0"/>
          </a:p>
        </p:txBody>
      </p:sp>
      <p:sp>
        <p:nvSpPr>
          <p:cNvPr id="6" name="Text 4"/>
          <p:cNvSpPr/>
          <p:nvPr/>
        </p:nvSpPr>
        <p:spPr>
          <a:xfrm>
            <a:off x="576072" y="1078992"/>
            <a:ext cx="10789920" cy="274320"/>
          </a:xfrm>
          <a:prstGeom prst="rect">
            <a:avLst/>
          </a:prstGeom>
          <a:noFill/>
          <a:ln/>
        </p:spPr>
        <p:txBody>
          <a:bodyPr wrap="square" lIns="0" tIns="0" rIns="0" bIns="0" rtlCol="0" anchor="ctr"/>
          <a:lstStyle/>
          <a:p>
            <a:pPr marL="0" indent="0">
              <a:buNone/>
            </a:pPr>
            <a:r>
              <a:rPr lang="en-US" sz="1050" dirty="0">
                <a:solidFill>
                  <a:srgbClr val="65758B"/>
                </a:solidFill>
              </a:rPr>
              <a:t>The improvement plan combines immediate operational controls with longer-term service transformation.</a:t>
            </a:r>
            <a:endParaRPr lang="en-US" sz="1050" dirty="0"/>
          </a:p>
        </p:txBody>
      </p:sp>
      <p:sp>
        <p:nvSpPr>
          <p:cNvPr id="7" name="Shape 5"/>
          <p:cNvSpPr/>
          <p:nvPr/>
        </p:nvSpPr>
        <p:spPr>
          <a:xfrm>
            <a:off x="566928" y="6437376"/>
            <a:ext cx="11018520" cy="13716"/>
          </a:xfrm>
          <a:prstGeom prst="rect">
            <a:avLst/>
          </a:prstGeom>
          <a:solidFill>
            <a:srgbClr val="D5DEE7"/>
          </a:solidFill>
          <a:ln w="12700">
            <a:solidFill>
              <a:srgbClr val="D5DEE7"/>
            </a:solidFill>
            <a:prstDash val="solid"/>
          </a:ln>
        </p:spPr>
      </p:sp>
      <p:sp>
        <p:nvSpPr>
          <p:cNvPr id="8" name="Text 6"/>
          <p:cNvSpPr/>
          <p:nvPr/>
        </p:nvSpPr>
        <p:spPr>
          <a:xfrm>
            <a:off x="566928" y="6528816"/>
            <a:ext cx="4572000" cy="164592"/>
          </a:xfrm>
          <a:prstGeom prst="rect">
            <a:avLst/>
          </a:prstGeom>
          <a:noFill/>
          <a:ln/>
        </p:spPr>
        <p:txBody>
          <a:bodyPr wrap="square" lIns="0" tIns="0" rIns="0" bIns="0" rtlCol="0" anchor="ctr"/>
          <a:lstStyle/>
          <a:p>
            <a:pPr marL="0" indent="0">
              <a:buNone/>
            </a:pPr>
            <a:r>
              <a:rPr lang="en-US" sz="700" dirty="0">
                <a:solidFill>
                  <a:srgbClr val="65758B"/>
                </a:solidFill>
              </a:rPr>
              <a:t>Internal Use | Reporting period: January to August 2026</a:t>
            </a:r>
            <a:endParaRPr lang="en-US" sz="700" dirty="0"/>
          </a:p>
        </p:txBody>
      </p:sp>
      <p:sp>
        <p:nvSpPr>
          <p:cNvPr id="9" name="Shape 7"/>
          <p:cNvSpPr/>
          <p:nvPr/>
        </p:nvSpPr>
        <p:spPr>
          <a:xfrm>
            <a:off x="658368" y="1444752"/>
            <a:ext cx="5349240" cy="1188720"/>
          </a:xfrm>
          <a:prstGeom prst="roundRect">
            <a:avLst>
              <a:gd name="adj" fmla="val 3077"/>
            </a:avLst>
          </a:prstGeom>
          <a:solidFill>
            <a:srgbClr val="FFFFFF"/>
          </a:solidFill>
          <a:ln w="12700">
            <a:solidFill>
              <a:srgbClr val="D5DEE7"/>
            </a:solidFill>
            <a:prstDash val="solid"/>
          </a:ln>
        </p:spPr>
      </p:sp>
      <p:sp>
        <p:nvSpPr>
          <p:cNvPr id="10" name="Shape 8"/>
          <p:cNvSpPr/>
          <p:nvPr/>
        </p:nvSpPr>
        <p:spPr>
          <a:xfrm>
            <a:off x="658368" y="1444752"/>
            <a:ext cx="73152" cy="1188720"/>
          </a:xfrm>
          <a:prstGeom prst="rect">
            <a:avLst/>
          </a:prstGeom>
          <a:solidFill>
            <a:srgbClr val="1A9E98"/>
          </a:solidFill>
          <a:ln w="12700">
            <a:solidFill>
              <a:srgbClr val="1A9E98"/>
            </a:solidFill>
            <a:prstDash val="solid"/>
          </a:ln>
        </p:spPr>
      </p:sp>
      <p:sp>
        <p:nvSpPr>
          <p:cNvPr id="11" name="Text 9"/>
          <p:cNvSpPr/>
          <p:nvPr/>
        </p:nvSpPr>
        <p:spPr>
          <a:xfrm>
            <a:off x="859536" y="1591056"/>
            <a:ext cx="4983480" cy="274320"/>
          </a:xfrm>
          <a:prstGeom prst="rect">
            <a:avLst/>
          </a:prstGeom>
          <a:noFill/>
          <a:ln/>
        </p:spPr>
        <p:txBody>
          <a:bodyPr wrap="square" lIns="0" tIns="0" rIns="0" bIns="0" rtlCol="0" anchor="ctr"/>
          <a:lstStyle/>
          <a:p>
            <a:pPr marL="0" indent="0">
              <a:buNone/>
            </a:pPr>
            <a:r>
              <a:rPr lang="en-US" sz="1300" b="1" dirty="0">
                <a:solidFill>
                  <a:srgbClr val="1A9E98"/>
                </a:solidFill>
              </a:rPr>
              <a:t>1. Automated Ticket Categorization</a:t>
            </a:r>
            <a:endParaRPr lang="en-US" sz="1300" dirty="0"/>
          </a:p>
        </p:txBody>
      </p:sp>
      <p:sp>
        <p:nvSpPr>
          <p:cNvPr id="12" name="Text 10"/>
          <p:cNvSpPr/>
          <p:nvPr/>
        </p:nvSpPr>
        <p:spPr>
          <a:xfrm>
            <a:off x="859536" y="1975104"/>
            <a:ext cx="4965192" cy="530352"/>
          </a:xfrm>
          <a:prstGeom prst="rect">
            <a:avLst/>
          </a:prstGeom>
          <a:noFill/>
          <a:ln/>
        </p:spPr>
        <p:txBody>
          <a:bodyPr wrap="square" lIns="254" tIns="254" rIns="254" bIns="254" rtlCol="0" anchor="t">
            <a:normAutofit/>
          </a:bodyPr>
          <a:lstStyle/>
          <a:p>
            <a:pPr marL="0" indent="0">
              <a:buNone/>
            </a:pPr>
            <a:r>
              <a:rPr lang="en-US" sz="1080" dirty="0">
                <a:solidFill>
                  <a:srgbClr val="25364A"/>
                </a:solidFill>
              </a:rPr>
              <a:t>Use case content, product, customer impact, and historical patterns to recommend category, priority, and assignment. The objective is to reduce manual routing time and incorrect transfers.</a:t>
            </a:r>
            <a:endParaRPr lang="en-US" sz="1080" dirty="0"/>
          </a:p>
        </p:txBody>
      </p:sp>
      <p:sp>
        <p:nvSpPr>
          <p:cNvPr id="13" name="Shape 11"/>
          <p:cNvSpPr/>
          <p:nvPr/>
        </p:nvSpPr>
        <p:spPr>
          <a:xfrm>
            <a:off x="6199632" y="1444752"/>
            <a:ext cx="5349240" cy="1188720"/>
          </a:xfrm>
          <a:prstGeom prst="roundRect">
            <a:avLst>
              <a:gd name="adj" fmla="val 3077"/>
            </a:avLst>
          </a:prstGeom>
          <a:solidFill>
            <a:srgbClr val="FFFFFF"/>
          </a:solidFill>
          <a:ln w="12700">
            <a:solidFill>
              <a:srgbClr val="D5DEE7"/>
            </a:solidFill>
            <a:prstDash val="solid"/>
          </a:ln>
        </p:spPr>
      </p:sp>
      <p:sp>
        <p:nvSpPr>
          <p:cNvPr id="14" name="Shape 12"/>
          <p:cNvSpPr/>
          <p:nvPr/>
        </p:nvSpPr>
        <p:spPr>
          <a:xfrm>
            <a:off x="6199632" y="1444752"/>
            <a:ext cx="73152" cy="1188720"/>
          </a:xfrm>
          <a:prstGeom prst="rect">
            <a:avLst/>
          </a:prstGeom>
          <a:solidFill>
            <a:srgbClr val="244A73"/>
          </a:solidFill>
          <a:ln w="12700">
            <a:solidFill>
              <a:srgbClr val="244A73"/>
            </a:solidFill>
            <a:prstDash val="solid"/>
          </a:ln>
        </p:spPr>
      </p:sp>
      <p:sp>
        <p:nvSpPr>
          <p:cNvPr id="15" name="Text 13"/>
          <p:cNvSpPr/>
          <p:nvPr/>
        </p:nvSpPr>
        <p:spPr>
          <a:xfrm>
            <a:off x="6400800" y="1591056"/>
            <a:ext cx="4983480" cy="274320"/>
          </a:xfrm>
          <a:prstGeom prst="rect">
            <a:avLst/>
          </a:prstGeom>
          <a:noFill/>
          <a:ln/>
        </p:spPr>
        <p:txBody>
          <a:bodyPr wrap="square" lIns="0" tIns="0" rIns="0" bIns="0" rtlCol="0" anchor="ctr"/>
          <a:lstStyle/>
          <a:p>
            <a:pPr marL="0" indent="0">
              <a:buNone/>
            </a:pPr>
            <a:r>
              <a:rPr lang="en-US" sz="1300" b="1" dirty="0">
                <a:solidFill>
                  <a:srgbClr val="244A73"/>
                </a:solidFill>
              </a:rPr>
              <a:t>2. Knowledge-Base Expansion</a:t>
            </a:r>
            <a:endParaRPr lang="en-US" sz="1300" dirty="0"/>
          </a:p>
        </p:txBody>
      </p:sp>
      <p:sp>
        <p:nvSpPr>
          <p:cNvPr id="16" name="Text 14"/>
          <p:cNvSpPr/>
          <p:nvPr/>
        </p:nvSpPr>
        <p:spPr>
          <a:xfrm>
            <a:off x="6400800" y="1975104"/>
            <a:ext cx="4965192" cy="530352"/>
          </a:xfrm>
          <a:prstGeom prst="rect">
            <a:avLst/>
          </a:prstGeom>
          <a:noFill/>
          <a:ln/>
        </p:spPr>
        <p:txBody>
          <a:bodyPr wrap="square" lIns="254" tIns="254" rIns="254" bIns="254" rtlCol="0" anchor="t">
            <a:normAutofit/>
          </a:bodyPr>
          <a:lstStyle/>
          <a:p>
            <a:pPr marL="0" indent="0">
              <a:buNone/>
            </a:pPr>
            <a:r>
              <a:rPr lang="en-US" sz="1080" dirty="0">
                <a:solidFill>
                  <a:srgbClr val="25364A"/>
                </a:solidFill>
              </a:rPr>
              <a:t>Publish ten new troubleshooting articles focused on login, payment, connectivity, and common technical errors. Articles should use clear steps, screenshots, expected outcomes, and escalation guidance.</a:t>
            </a:r>
            <a:endParaRPr lang="en-US" sz="1080" dirty="0"/>
          </a:p>
        </p:txBody>
      </p:sp>
      <p:sp>
        <p:nvSpPr>
          <p:cNvPr id="17" name="Shape 15"/>
          <p:cNvSpPr/>
          <p:nvPr/>
        </p:nvSpPr>
        <p:spPr>
          <a:xfrm>
            <a:off x="658368" y="2862072"/>
            <a:ext cx="5349240" cy="1188720"/>
          </a:xfrm>
          <a:prstGeom prst="roundRect">
            <a:avLst>
              <a:gd name="adj" fmla="val 3077"/>
            </a:avLst>
          </a:prstGeom>
          <a:solidFill>
            <a:srgbClr val="FFFFFF"/>
          </a:solidFill>
          <a:ln w="12700">
            <a:solidFill>
              <a:srgbClr val="D5DEE7"/>
            </a:solidFill>
            <a:prstDash val="solid"/>
          </a:ln>
        </p:spPr>
      </p:sp>
      <p:sp>
        <p:nvSpPr>
          <p:cNvPr id="18" name="Shape 16"/>
          <p:cNvSpPr/>
          <p:nvPr/>
        </p:nvSpPr>
        <p:spPr>
          <a:xfrm>
            <a:off x="658368" y="2862072"/>
            <a:ext cx="73152" cy="1188720"/>
          </a:xfrm>
          <a:prstGeom prst="rect">
            <a:avLst/>
          </a:prstGeom>
          <a:solidFill>
            <a:srgbClr val="E67E22"/>
          </a:solidFill>
          <a:ln w="12700">
            <a:solidFill>
              <a:srgbClr val="E67E22"/>
            </a:solidFill>
            <a:prstDash val="solid"/>
          </a:ln>
        </p:spPr>
      </p:sp>
      <p:sp>
        <p:nvSpPr>
          <p:cNvPr id="19" name="Text 17"/>
          <p:cNvSpPr/>
          <p:nvPr/>
        </p:nvSpPr>
        <p:spPr>
          <a:xfrm>
            <a:off x="859536" y="3008376"/>
            <a:ext cx="4983480" cy="274320"/>
          </a:xfrm>
          <a:prstGeom prst="rect">
            <a:avLst/>
          </a:prstGeom>
          <a:noFill/>
          <a:ln/>
        </p:spPr>
        <p:txBody>
          <a:bodyPr wrap="square" lIns="0" tIns="0" rIns="0" bIns="0" rtlCol="0" anchor="ctr"/>
          <a:lstStyle/>
          <a:p>
            <a:pPr marL="0" indent="0">
              <a:buNone/>
            </a:pPr>
            <a:r>
              <a:rPr lang="en-US" sz="1300" b="1" dirty="0">
                <a:solidFill>
                  <a:srgbClr val="E67E22"/>
                </a:solidFill>
              </a:rPr>
              <a:t>3. Advanced Diagnostic Training</a:t>
            </a:r>
            <a:endParaRPr lang="en-US" sz="1300" dirty="0"/>
          </a:p>
        </p:txBody>
      </p:sp>
      <p:sp>
        <p:nvSpPr>
          <p:cNvPr id="20" name="Text 18"/>
          <p:cNvSpPr/>
          <p:nvPr/>
        </p:nvSpPr>
        <p:spPr>
          <a:xfrm>
            <a:off x="859536" y="3392424"/>
            <a:ext cx="4965192" cy="530352"/>
          </a:xfrm>
          <a:prstGeom prst="rect">
            <a:avLst/>
          </a:prstGeom>
          <a:noFill/>
          <a:ln/>
        </p:spPr>
        <p:txBody>
          <a:bodyPr wrap="square" lIns="254" tIns="254" rIns="254" bIns="254" rtlCol="0" anchor="t">
            <a:normAutofit/>
          </a:bodyPr>
          <a:lstStyle/>
          <a:p>
            <a:pPr marL="0" indent="0">
              <a:buNone/>
            </a:pPr>
            <a:r>
              <a:rPr lang="en-US" sz="1080" dirty="0">
                <a:solidFill>
                  <a:srgbClr val="25364A"/>
                </a:solidFill>
              </a:rPr>
              <a:t>Provide scenario-based training for technical agents, including log interpretation, authentication analysis, integration troubleshooting, and effective engineering escalation.</a:t>
            </a:r>
            <a:endParaRPr lang="en-US" sz="1080" dirty="0"/>
          </a:p>
        </p:txBody>
      </p:sp>
      <p:sp>
        <p:nvSpPr>
          <p:cNvPr id="21" name="Shape 19"/>
          <p:cNvSpPr/>
          <p:nvPr/>
        </p:nvSpPr>
        <p:spPr>
          <a:xfrm>
            <a:off x="6199632" y="2862072"/>
            <a:ext cx="5349240" cy="1188720"/>
          </a:xfrm>
          <a:prstGeom prst="roundRect">
            <a:avLst>
              <a:gd name="adj" fmla="val 3077"/>
            </a:avLst>
          </a:prstGeom>
          <a:solidFill>
            <a:srgbClr val="FFFFFF"/>
          </a:solidFill>
          <a:ln w="12700">
            <a:solidFill>
              <a:srgbClr val="D5DEE7"/>
            </a:solidFill>
            <a:prstDash val="solid"/>
          </a:ln>
        </p:spPr>
      </p:sp>
      <p:sp>
        <p:nvSpPr>
          <p:cNvPr id="22" name="Shape 20"/>
          <p:cNvSpPr/>
          <p:nvPr/>
        </p:nvSpPr>
        <p:spPr>
          <a:xfrm>
            <a:off x="6199632" y="2862072"/>
            <a:ext cx="73152" cy="1188720"/>
          </a:xfrm>
          <a:prstGeom prst="rect">
            <a:avLst/>
          </a:prstGeom>
          <a:solidFill>
            <a:srgbClr val="2E8B57"/>
          </a:solidFill>
          <a:ln w="12700">
            <a:solidFill>
              <a:srgbClr val="2E8B57"/>
            </a:solidFill>
            <a:prstDash val="solid"/>
          </a:ln>
        </p:spPr>
      </p:sp>
      <p:sp>
        <p:nvSpPr>
          <p:cNvPr id="23" name="Text 21"/>
          <p:cNvSpPr/>
          <p:nvPr/>
        </p:nvSpPr>
        <p:spPr>
          <a:xfrm>
            <a:off x="6400800" y="3008376"/>
            <a:ext cx="4983480" cy="274320"/>
          </a:xfrm>
          <a:prstGeom prst="rect">
            <a:avLst/>
          </a:prstGeom>
          <a:noFill/>
          <a:ln/>
        </p:spPr>
        <p:txBody>
          <a:bodyPr wrap="square" lIns="0" tIns="0" rIns="0" bIns="0" rtlCol="0" anchor="ctr"/>
          <a:lstStyle/>
          <a:p>
            <a:pPr marL="0" indent="0">
              <a:buNone/>
            </a:pPr>
            <a:r>
              <a:rPr lang="en-US" sz="1300" b="1" dirty="0">
                <a:solidFill>
                  <a:srgbClr val="2E8B57"/>
                </a:solidFill>
              </a:rPr>
              <a:t>4. Proactive Customer Notifications</a:t>
            </a:r>
            <a:endParaRPr lang="en-US" sz="1300" dirty="0"/>
          </a:p>
        </p:txBody>
      </p:sp>
      <p:sp>
        <p:nvSpPr>
          <p:cNvPr id="24" name="Text 22"/>
          <p:cNvSpPr/>
          <p:nvPr/>
        </p:nvSpPr>
        <p:spPr>
          <a:xfrm>
            <a:off x="6400800" y="3392424"/>
            <a:ext cx="4965192" cy="530352"/>
          </a:xfrm>
          <a:prstGeom prst="rect">
            <a:avLst/>
          </a:prstGeom>
          <a:noFill/>
          <a:ln/>
        </p:spPr>
        <p:txBody>
          <a:bodyPr wrap="square" lIns="254" tIns="254" rIns="254" bIns="254" rtlCol="0" anchor="t">
            <a:normAutofit/>
          </a:bodyPr>
          <a:lstStyle/>
          <a:p>
            <a:pPr marL="0" indent="0">
              <a:buNone/>
            </a:pPr>
            <a:r>
              <a:rPr lang="en-US" sz="1080" dirty="0">
                <a:solidFill>
                  <a:srgbClr val="25364A"/>
                </a:solidFill>
              </a:rPr>
              <a:t>Automatically communicate acknowledgement, ownership, progress, expected next action, service restoration, and closure details for major incidents and long-running tickets.</a:t>
            </a:r>
            <a:endParaRPr lang="en-US" sz="1080" dirty="0"/>
          </a:p>
        </p:txBody>
      </p:sp>
      <p:sp>
        <p:nvSpPr>
          <p:cNvPr id="25" name="Shape 23"/>
          <p:cNvSpPr/>
          <p:nvPr/>
        </p:nvSpPr>
        <p:spPr>
          <a:xfrm>
            <a:off x="658368" y="4279392"/>
            <a:ext cx="5349240" cy="1188720"/>
          </a:xfrm>
          <a:prstGeom prst="roundRect">
            <a:avLst>
              <a:gd name="adj" fmla="val 3077"/>
            </a:avLst>
          </a:prstGeom>
          <a:solidFill>
            <a:srgbClr val="FFFFFF"/>
          </a:solidFill>
          <a:ln w="12700">
            <a:solidFill>
              <a:srgbClr val="D5DEE7"/>
            </a:solidFill>
            <a:prstDash val="solid"/>
          </a:ln>
        </p:spPr>
      </p:sp>
      <p:sp>
        <p:nvSpPr>
          <p:cNvPr id="26" name="Shape 24"/>
          <p:cNvSpPr/>
          <p:nvPr/>
        </p:nvSpPr>
        <p:spPr>
          <a:xfrm>
            <a:off x="658368" y="4279392"/>
            <a:ext cx="73152" cy="1188720"/>
          </a:xfrm>
          <a:prstGeom prst="rect">
            <a:avLst/>
          </a:prstGeom>
          <a:solidFill>
            <a:srgbClr val="C0392B"/>
          </a:solidFill>
          <a:ln w="12700">
            <a:solidFill>
              <a:srgbClr val="C0392B"/>
            </a:solidFill>
            <a:prstDash val="solid"/>
          </a:ln>
        </p:spPr>
      </p:sp>
      <p:sp>
        <p:nvSpPr>
          <p:cNvPr id="27" name="Text 25"/>
          <p:cNvSpPr/>
          <p:nvPr/>
        </p:nvSpPr>
        <p:spPr>
          <a:xfrm>
            <a:off x="859536" y="4425696"/>
            <a:ext cx="4983480" cy="274320"/>
          </a:xfrm>
          <a:prstGeom prst="rect">
            <a:avLst/>
          </a:prstGeom>
          <a:noFill/>
          <a:ln/>
        </p:spPr>
        <p:txBody>
          <a:bodyPr wrap="square" lIns="0" tIns="0" rIns="0" bIns="0" rtlCol="0" anchor="ctr"/>
          <a:lstStyle/>
          <a:p>
            <a:pPr marL="0" indent="0">
              <a:buNone/>
            </a:pPr>
            <a:r>
              <a:rPr lang="en-US" sz="1300" b="1" dirty="0">
                <a:solidFill>
                  <a:srgbClr val="C0392B"/>
                </a:solidFill>
              </a:rPr>
              <a:t>5. Escalation and Coverage Review</a:t>
            </a:r>
            <a:endParaRPr lang="en-US" sz="1300" dirty="0"/>
          </a:p>
        </p:txBody>
      </p:sp>
      <p:sp>
        <p:nvSpPr>
          <p:cNvPr id="28" name="Text 26"/>
          <p:cNvSpPr/>
          <p:nvPr/>
        </p:nvSpPr>
        <p:spPr>
          <a:xfrm>
            <a:off x="859536" y="4809744"/>
            <a:ext cx="4965192" cy="530352"/>
          </a:xfrm>
          <a:prstGeom prst="rect">
            <a:avLst/>
          </a:prstGeom>
          <a:noFill/>
          <a:ln/>
        </p:spPr>
        <p:txBody>
          <a:bodyPr wrap="square" lIns="254" tIns="254" rIns="254" bIns="254" rtlCol="0" anchor="t">
            <a:normAutofit/>
          </a:bodyPr>
          <a:lstStyle/>
          <a:p>
            <a:pPr marL="0" indent="0">
              <a:buNone/>
            </a:pPr>
            <a:r>
              <a:rPr lang="en-US" sz="1080" dirty="0">
                <a:solidFill>
                  <a:srgbClr val="25364A"/>
                </a:solidFill>
              </a:rPr>
              <a:t>Review critical-case escalation thresholds, management notification, weekend connectivity coverage, specialist on-call responsibilities, and missed-SLA prevention controls.</a:t>
            </a:r>
            <a:endParaRPr lang="en-US" sz="1080" dirty="0"/>
          </a:p>
        </p:txBody>
      </p:sp>
      <p:sp>
        <p:nvSpPr>
          <p:cNvPr id="29" name="Shape 27"/>
          <p:cNvSpPr/>
          <p:nvPr/>
        </p:nvSpPr>
        <p:spPr>
          <a:xfrm>
            <a:off x="6199632" y="4279392"/>
            <a:ext cx="5349240" cy="1188720"/>
          </a:xfrm>
          <a:prstGeom prst="roundRect">
            <a:avLst>
              <a:gd name="adj" fmla="val 3077"/>
            </a:avLst>
          </a:prstGeom>
          <a:solidFill>
            <a:srgbClr val="FFFFFF"/>
          </a:solidFill>
          <a:ln w="12700">
            <a:solidFill>
              <a:srgbClr val="D5DEE7"/>
            </a:solidFill>
            <a:prstDash val="solid"/>
          </a:ln>
        </p:spPr>
      </p:sp>
      <p:sp>
        <p:nvSpPr>
          <p:cNvPr id="30" name="Shape 28"/>
          <p:cNvSpPr/>
          <p:nvPr/>
        </p:nvSpPr>
        <p:spPr>
          <a:xfrm>
            <a:off x="6199632" y="4279392"/>
            <a:ext cx="73152" cy="1188720"/>
          </a:xfrm>
          <a:prstGeom prst="rect">
            <a:avLst/>
          </a:prstGeom>
          <a:solidFill>
            <a:srgbClr val="244A73"/>
          </a:solidFill>
          <a:ln w="12700">
            <a:solidFill>
              <a:srgbClr val="244A73"/>
            </a:solidFill>
            <a:prstDash val="solid"/>
          </a:ln>
        </p:spPr>
      </p:sp>
      <p:sp>
        <p:nvSpPr>
          <p:cNvPr id="31" name="Text 29"/>
          <p:cNvSpPr/>
          <p:nvPr/>
        </p:nvSpPr>
        <p:spPr>
          <a:xfrm>
            <a:off x="6400800" y="4425696"/>
            <a:ext cx="4983480" cy="274320"/>
          </a:xfrm>
          <a:prstGeom prst="rect">
            <a:avLst/>
          </a:prstGeom>
          <a:noFill/>
          <a:ln/>
        </p:spPr>
        <p:txBody>
          <a:bodyPr wrap="square" lIns="0" tIns="0" rIns="0" bIns="0" rtlCol="0" anchor="ctr"/>
          <a:lstStyle/>
          <a:p>
            <a:pPr marL="0" indent="0">
              <a:buNone/>
            </a:pPr>
            <a:r>
              <a:rPr lang="en-US" sz="1300" b="1" dirty="0">
                <a:solidFill>
                  <a:srgbClr val="244A73"/>
                </a:solidFill>
              </a:rPr>
              <a:t>6. Recurring Problem Management</a:t>
            </a:r>
            <a:endParaRPr lang="en-US" sz="1300" dirty="0"/>
          </a:p>
        </p:txBody>
      </p:sp>
      <p:sp>
        <p:nvSpPr>
          <p:cNvPr id="32" name="Text 30"/>
          <p:cNvSpPr/>
          <p:nvPr/>
        </p:nvSpPr>
        <p:spPr>
          <a:xfrm>
            <a:off x="6400800" y="4809744"/>
            <a:ext cx="4965192" cy="530352"/>
          </a:xfrm>
          <a:prstGeom prst="rect">
            <a:avLst/>
          </a:prstGeom>
          <a:noFill/>
          <a:ln/>
        </p:spPr>
        <p:txBody>
          <a:bodyPr wrap="square" lIns="254" tIns="254" rIns="254" bIns="254" rtlCol="0" anchor="t">
            <a:normAutofit/>
          </a:bodyPr>
          <a:lstStyle/>
          <a:p>
            <a:pPr marL="0" indent="0">
              <a:buNone/>
            </a:pPr>
            <a:r>
              <a:rPr lang="en-US" sz="1080" dirty="0">
                <a:solidFill>
                  <a:srgbClr val="25364A"/>
                </a:solidFill>
              </a:rPr>
              <a:t>Conduct monthly analysis of repeated issues, high-volume categories, reopened tickets, root causes, corrective actions, and measurable reduction in future customer impact.</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B"/>
        </a:solidFill>
        <a:effectLst/>
      </p:bgPr>
    </p:bg>
    <p:spTree>
      <p:nvGrpSpPr>
        <p:cNvPr id="1" name=""/>
        <p:cNvGrpSpPr/>
        <p:nvPr/>
      </p:nvGrpSpPr>
      <p:grpSpPr>
        <a:xfrm>
          <a:off x="0" y="0"/>
          <a:ext cx="1" cy="1"/>
          <a:chOff x="0" y="0"/>
          <a:chExt cx="1" cy="1"/>
        </a:xfrm>
      </p:grpSpPr>
      <p:sp>
        <p:nvSpPr>
          <p:cNvPr id="2" name="Shape 0"/>
          <p:cNvSpPr/>
          <p:nvPr/>
        </p:nvSpPr>
        <p:spPr>
          <a:xfrm>
            <a:off x="0" y="0"/>
            <a:ext cx="12191695" cy="128016"/>
          </a:xfrm>
          <a:prstGeom prst="rect">
            <a:avLst/>
          </a:prstGeom>
          <a:solidFill>
            <a:srgbClr val="1A9E98"/>
          </a:solidFill>
          <a:ln w="12700">
            <a:solidFill>
              <a:srgbClr val="1A9E98"/>
            </a:solidFill>
            <a:prstDash val="solid"/>
          </a:ln>
        </p:spPr>
      </p:sp>
      <p:sp>
        <p:nvSpPr>
          <p:cNvPr id="3" name="Text 1"/>
          <p:cNvSpPr/>
          <p:nvPr/>
        </p:nvSpPr>
        <p:spPr>
          <a:xfrm>
            <a:off x="502920" y="228600"/>
            <a:ext cx="4572000" cy="201168"/>
          </a:xfrm>
          <a:prstGeom prst="rect">
            <a:avLst/>
          </a:prstGeom>
          <a:noFill/>
          <a:ln/>
        </p:spPr>
        <p:txBody>
          <a:bodyPr wrap="square" lIns="0" tIns="0" rIns="0" bIns="0" rtlCol="0" anchor="ctr"/>
          <a:lstStyle/>
          <a:p>
            <a:pPr marL="0" indent="0">
              <a:buNone/>
            </a:pPr>
            <a:r>
              <a:rPr lang="en-US" sz="800" b="1" dirty="0">
                <a:solidFill>
                  <a:srgbClr val="65758B"/>
                </a:solidFill>
              </a:rPr>
              <a:t>NORTHSTAR BUSINESS SERVICES PVT. LTD.</a:t>
            </a:r>
            <a:endParaRPr lang="en-US" sz="800" dirty="0"/>
          </a:p>
        </p:txBody>
      </p:sp>
      <p:sp>
        <p:nvSpPr>
          <p:cNvPr id="4" name="Text 2"/>
          <p:cNvSpPr/>
          <p:nvPr/>
        </p:nvSpPr>
        <p:spPr>
          <a:xfrm>
            <a:off x="9235440" y="228600"/>
            <a:ext cx="2423160" cy="201168"/>
          </a:xfrm>
          <a:prstGeom prst="rect">
            <a:avLst/>
          </a:prstGeom>
          <a:noFill/>
          <a:ln/>
        </p:spPr>
        <p:txBody>
          <a:bodyPr wrap="square" lIns="0" tIns="0" rIns="0" bIns="0" rtlCol="0" anchor="ctr"/>
          <a:lstStyle/>
          <a:p>
            <a:pPr marL="0" indent="0" algn="r">
              <a:buNone/>
            </a:pPr>
            <a:r>
              <a:rPr lang="en-US" sz="800" dirty="0">
                <a:solidFill>
                  <a:srgbClr val="65758B"/>
                </a:solidFill>
              </a:rPr>
              <a:t>Actions and Decisions</a:t>
            </a:r>
            <a:endParaRPr lang="en-US" sz="800" dirty="0"/>
          </a:p>
        </p:txBody>
      </p:sp>
      <p:sp>
        <p:nvSpPr>
          <p:cNvPr id="5" name="Text 3"/>
          <p:cNvSpPr/>
          <p:nvPr/>
        </p:nvSpPr>
        <p:spPr>
          <a:xfrm>
            <a:off x="566928" y="630936"/>
            <a:ext cx="10881360" cy="438912"/>
          </a:xfrm>
          <a:prstGeom prst="rect">
            <a:avLst/>
          </a:prstGeom>
          <a:noFill/>
          <a:ln/>
        </p:spPr>
        <p:txBody>
          <a:bodyPr wrap="square" lIns="0" tIns="0" rIns="0" bIns="0" rtlCol="0" anchor="ctr"/>
          <a:lstStyle/>
          <a:p>
            <a:pPr marL="0" indent="0">
              <a:buNone/>
            </a:pPr>
            <a:r>
              <a:rPr lang="en-US" sz="2500" b="1" dirty="0">
                <a:solidFill>
                  <a:srgbClr val="17365D"/>
                </a:solidFill>
              </a:rPr>
              <a:t>Management Decisions and Next Steps</a:t>
            </a:r>
            <a:endParaRPr lang="en-US" sz="2500" dirty="0"/>
          </a:p>
        </p:txBody>
      </p:sp>
      <p:sp>
        <p:nvSpPr>
          <p:cNvPr id="6" name="Text 4"/>
          <p:cNvSpPr/>
          <p:nvPr/>
        </p:nvSpPr>
        <p:spPr>
          <a:xfrm>
            <a:off x="576072" y="1078992"/>
            <a:ext cx="10789920" cy="274320"/>
          </a:xfrm>
          <a:prstGeom prst="rect">
            <a:avLst/>
          </a:prstGeom>
          <a:noFill/>
          <a:ln/>
        </p:spPr>
        <p:txBody>
          <a:bodyPr wrap="square" lIns="0" tIns="0" rIns="0" bIns="0" rtlCol="0" anchor="ctr"/>
          <a:lstStyle/>
          <a:p>
            <a:pPr marL="0" indent="0">
              <a:buNone/>
            </a:pPr>
            <a:r>
              <a:rPr lang="en-US" sz="1050" dirty="0">
                <a:solidFill>
                  <a:srgbClr val="65758B"/>
                </a:solidFill>
              </a:rPr>
              <a:t>Leadership approval and accountable execution are required to convert findings into measurable improvement.</a:t>
            </a:r>
            <a:endParaRPr lang="en-US" sz="1050" dirty="0"/>
          </a:p>
        </p:txBody>
      </p:sp>
      <p:sp>
        <p:nvSpPr>
          <p:cNvPr id="7" name="Shape 5"/>
          <p:cNvSpPr/>
          <p:nvPr/>
        </p:nvSpPr>
        <p:spPr>
          <a:xfrm>
            <a:off x="566928" y="6437376"/>
            <a:ext cx="11018520" cy="13716"/>
          </a:xfrm>
          <a:prstGeom prst="rect">
            <a:avLst/>
          </a:prstGeom>
          <a:solidFill>
            <a:srgbClr val="D5DEE7"/>
          </a:solidFill>
          <a:ln w="12700">
            <a:solidFill>
              <a:srgbClr val="D5DEE7"/>
            </a:solidFill>
            <a:prstDash val="solid"/>
          </a:ln>
        </p:spPr>
      </p:sp>
      <p:sp>
        <p:nvSpPr>
          <p:cNvPr id="8" name="Text 6"/>
          <p:cNvSpPr/>
          <p:nvPr/>
        </p:nvSpPr>
        <p:spPr>
          <a:xfrm>
            <a:off x="566928" y="6528816"/>
            <a:ext cx="4572000" cy="164592"/>
          </a:xfrm>
          <a:prstGeom prst="rect">
            <a:avLst/>
          </a:prstGeom>
          <a:noFill/>
          <a:ln/>
        </p:spPr>
        <p:txBody>
          <a:bodyPr wrap="square" lIns="0" tIns="0" rIns="0" bIns="0" rtlCol="0" anchor="ctr"/>
          <a:lstStyle/>
          <a:p>
            <a:pPr marL="0" indent="0">
              <a:buNone/>
            </a:pPr>
            <a:r>
              <a:rPr lang="en-US" sz="700" dirty="0">
                <a:solidFill>
                  <a:srgbClr val="65758B"/>
                </a:solidFill>
              </a:rPr>
              <a:t>Internal Use | Reporting period: January to August 2026</a:t>
            </a:r>
            <a:endParaRPr lang="en-US" sz="700" dirty="0"/>
          </a:p>
        </p:txBody>
      </p:sp>
      <p:sp>
        <p:nvSpPr>
          <p:cNvPr id="9" name="Shape 7"/>
          <p:cNvSpPr/>
          <p:nvPr/>
        </p:nvSpPr>
        <p:spPr>
          <a:xfrm>
            <a:off x="658368" y="1444752"/>
            <a:ext cx="5349240" cy="1097280"/>
          </a:xfrm>
          <a:prstGeom prst="roundRect">
            <a:avLst>
              <a:gd name="adj" fmla="val 3333"/>
            </a:avLst>
          </a:prstGeom>
          <a:solidFill>
            <a:srgbClr val="FFFFFF"/>
          </a:solidFill>
          <a:ln w="12700">
            <a:solidFill>
              <a:srgbClr val="D5DEE7"/>
            </a:solidFill>
            <a:prstDash val="solid"/>
          </a:ln>
        </p:spPr>
      </p:sp>
      <p:sp>
        <p:nvSpPr>
          <p:cNvPr id="10" name="Shape 8"/>
          <p:cNvSpPr/>
          <p:nvPr/>
        </p:nvSpPr>
        <p:spPr>
          <a:xfrm>
            <a:off x="658368" y="1444752"/>
            <a:ext cx="73152" cy="1097280"/>
          </a:xfrm>
          <a:prstGeom prst="rect">
            <a:avLst/>
          </a:prstGeom>
          <a:solidFill>
            <a:srgbClr val="C0392B"/>
          </a:solidFill>
          <a:ln w="12700">
            <a:solidFill>
              <a:srgbClr val="C0392B"/>
            </a:solidFill>
            <a:prstDash val="solid"/>
          </a:ln>
        </p:spPr>
      </p:sp>
      <p:sp>
        <p:nvSpPr>
          <p:cNvPr id="11" name="Text 9"/>
          <p:cNvSpPr/>
          <p:nvPr/>
        </p:nvSpPr>
        <p:spPr>
          <a:xfrm>
            <a:off x="859536" y="1591056"/>
            <a:ext cx="4983480" cy="274320"/>
          </a:xfrm>
          <a:prstGeom prst="rect">
            <a:avLst/>
          </a:prstGeom>
          <a:noFill/>
          <a:ln/>
        </p:spPr>
        <p:txBody>
          <a:bodyPr wrap="square" lIns="0" tIns="0" rIns="0" bIns="0" rtlCol="0" anchor="ctr"/>
          <a:lstStyle/>
          <a:p>
            <a:pPr marL="0" indent="0">
              <a:buNone/>
            </a:pPr>
            <a:r>
              <a:rPr lang="en-US" sz="1300" b="1" dirty="0">
                <a:solidFill>
                  <a:srgbClr val="C0392B"/>
                </a:solidFill>
              </a:rPr>
              <a:t>Technical Specialist Capacity</a:t>
            </a:r>
            <a:endParaRPr lang="en-US" sz="1300" dirty="0"/>
          </a:p>
        </p:txBody>
      </p:sp>
      <p:sp>
        <p:nvSpPr>
          <p:cNvPr id="12" name="Text 10"/>
          <p:cNvSpPr/>
          <p:nvPr/>
        </p:nvSpPr>
        <p:spPr>
          <a:xfrm>
            <a:off x="859536" y="1975104"/>
            <a:ext cx="4965192" cy="438912"/>
          </a:xfrm>
          <a:prstGeom prst="rect">
            <a:avLst/>
          </a:prstGeom>
          <a:noFill/>
          <a:ln/>
        </p:spPr>
        <p:txBody>
          <a:bodyPr wrap="square" lIns="254" tIns="254" rIns="254" bIns="254" rtlCol="0" anchor="t">
            <a:normAutofit/>
          </a:bodyPr>
          <a:lstStyle/>
          <a:p>
            <a:pPr marL="0" indent="0">
              <a:buNone/>
            </a:pPr>
            <a:r>
              <a:rPr lang="en-US" sz="1110" dirty="0">
                <a:solidFill>
                  <a:srgbClr val="25364A"/>
                </a:solidFill>
              </a:rPr>
              <a:t>Decision required: Approve two additional technical specialists.</a:t>
            </a:r>
            <a:endParaRPr lang="en-US" sz="1110" dirty="0"/>
          </a:p>
          <a:p>
            <a:pPr marL="0" indent="0">
              <a:buNone/>
            </a:pPr>
            <a:r>
              <a:rPr lang="en-US" sz="1110" dirty="0">
                <a:solidFill>
                  <a:srgbClr val="25364A"/>
                </a:solidFill>
              </a:rPr>
              <a:t>Owner: Support Director | Target: 10 September 2026 | Priority: High</a:t>
            </a:r>
            <a:endParaRPr lang="en-US" sz="1110" dirty="0"/>
          </a:p>
        </p:txBody>
      </p:sp>
      <p:sp>
        <p:nvSpPr>
          <p:cNvPr id="13" name="Shape 11"/>
          <p:cNvSpPr/>
          <p:nvPr/>
        </p:nvSpPr>
        <p:spPr>
          <a:xfrm>
            <a:off x="6199632" y="1444752"/>
            <a:ext cx="5349240" cy="1097280"/>
          </a:xfrm>
          <a:prstGeom prst="roundRect">
            <a:avLst>
              <a:gd name="adj" fmla="val 3333"/>
            </a:avLst>
          </a:prstGeom>
          <a:solidFill>
            <a:srgbClr val="FFFFFF"/>
          </a:solidFill>
          <a:ln w="12700">
            <a:solidFill>
              <a:srgbClr val="D5DEE7"/>
            </a:solidFill>
            <a:prstDash val="solid"/>
          </a:ln>
        </p:spPr>
      </p:sp>
      <p:sp>
        <p:nvSpPr>
          <p:cNvPr id="14" name="Shape 12"/>
          <p:cNvSpPr/>
          <p:nvPr/>
        </p:nvSpPr>
        <p:spPr>
          <a:xfrm>
            <a:off x="6199632" y="1444752"/>
            <a:ext cx="73152" cy="1097280"/>
          </a:xfrm>
          <a:prstGeom prst="rect">
            <a:avLst/>
          </a:prstGeom>
          <a:solidFill>
            <a:srgbClr val="C0392B"/>
          </a:solidFill>
          <a:ln w="12700">
            <a:solidFill>
              <a:srgbClr val="C0392B"/>
            </a:solidFill>
            <a:prstDash val="solid"/>
          </a:ln>
        </p:spPr>
      </p:sp>
      <p:sp>
        <p:nvSpPr>
          <p:cNvPr id="15" name="Text 13"/>
          <p:cNvSpPr/>
          <p:nvPr/>
        </p:nvSpPr>
        <p:spPr>
          <a:xfrm>
            <a:off x="6400800" y="1591056"/>
            <a:ext cx="4983480" cy="274320"/>
          </a:xfrm>
          <a:prstGeom prst="rect">
            <a:avLst/>
          </a:prstGeom>
          <a:noFill/>
          <a:ln/>
        </p:spPr>
        <p:txBody>
          <a:bodyPr wrap="square" lIns="0" tIns="0" rIns="0" bIns="0" rtlCol="0" anchor="ctr"/>
          <a:lstStyle/>
          <a:p>
            <a:pPr marL="0" indent="0">
              <a:buNone/>
            </a:pPr>
            <a:r>
              <a:rPr lang="en-US" sz="1300" b="1" dirty="0">
                <a:solidFill>
                  <a:srgbClr val="C0392B"/>
                </a:solidFill>
              </a:rPr>
              <a:t>Critical Escalation Procedure</a:t>
            </a:r>
            <a:endParaRPr lang="en-US" sz="1300" dirty="0"/>
          </a:p>
        </p:txBody>
      </p:sp>
      <p:sp>
        <p:nvSpPr>
          <p:cNvPr id="16" name="Text 14"/>
          <p:cNvSpPr/>
          <p:nvPr/>
        </p:nvSpPr>
        <p:spPr>
          <a:xfrm>
            <a:off x="6400800" y="1975104"/>
            <a:ext cx="4965192" cy="438912"/>
          </a:xfrm>
          <a:prstGeom prst="rect">
            <a:avLst/>
          </a:prstGeom>
          <a:noFill/>
          <a:ln/>
        </p:spPr>
        <p:txBody>
          <a:bodyPr wrap="square" lIns="254" tIns="254" rIns="254" bIns="254" rtlCol="0" anchor="t">
            <a:normAutofit/>
          </a:bodyPr>
          <a:lstStyle/>
          <a:p>
            <a:pPr marL="0" indent="0">
              <a:buNone/>
            </a:pPr>
            <a:r>
              <a:rPr lang="en-US" sz="1110" dirty="0">
                <a:solidFill>
                  <a:srgbClr val="25364A"/>
                </a:solidFill>
              </a:rPr>
              <a:t>Decision required: Approve revised ownership, notification, and update requirements.</a:t>
            </a:r>
            <a:endParaRPr lang="en-US" sz="1110" dirty="0"/>
          </a:p>
          <a:p>
            <a:pPr marL="0" indent="0">
              <a:buNone/>
            </a:pPr>
            <a:r>
              <a:rPr lang="en-US" sz="1110" dirty="0">
                <a:solidFill>
                  <a:srgbClr val="25364A"/>
                </a:solidFill>
              </a:rPr>
              <a:t>Owner: Service Manager | Target: 12 September 2026 | Priority: Critical</a:t>
            </a:r>
            <a:endParaRPr lang="en-US" sz="1110" dirty="0"/>
          </a:p>
        </p:txBody>
      </p:sp>
      <p:sp>
        <p:nvSpPr>
          <p:cNvPr id="17" name="Shape 15"/>
          <p:cNvSpPr/>
          <p:nvPr/>
        </p:nvSpPr>
        <p:spPr>
          <a:xfrm>
            <a:off x="658368" y="2761488"/>
            <a:ext cx="5349240" cy="1097280"/>
          </a:xfrm>
          <a:prstGeom prst="roundRect">
            <a:avLst>
              <a:gd name="adj" fmla="val 3333"/>
            </a:avLst>
          </a:prstGeom>
          <a:solidFill>
            <a:srgbClr val="FFFFFF"/>
          </a:solidFill>
          <a:ln w="12700">
            <a:solidFill>
              <a:srgbClr val="D5DEE7"/>
            </a:solidFill>
            <a:prstDash val="solid"/>
          </a:ln>
        </p:spPr>
      </p:sp>
      <p:sp>
        <p:nvSpPr>
          <p:cNvPr id="18" name="Shape 16"/>
          <p:cNvSpPr/>
          <p:nvPr/>
        </p:nvSpPr>
        <p:spPr>
          <a:xfrm>
            <a:off x="658368" y="2761488"/>
            <a:ext cx="73152" cy="1097280"/>
          </a:xfrm>
          <a:prstGeom prst="rect">
            <a:avLst/>
          </a:prstGeom>
          <a:solidFill>
            <a:srgbClr val="1A9E98"/>
          </a:solidFill>
          <a:ln w="12700">
            <a:solidFill>
              <a:srgbClr val="1A9E98"/>
            </a:solidFill>
            <a:prstDash val="solid"/>
          </a:ln>
        </p:spPr>
      </p:sp>
      <p:sp>
        <p:nvSpPr>
          <p:cNvPr id="19" name="Text 17"/>
          <p:cNvSpPr/>
          <p:nvPr/>
        </p:nvSpPr>
        <p:spPr>
          <a:xfrm>
            <a:off x="859536" y="2907792"/>
            <a:ext cx="4983480" cy="274320"/>
          </a:xfrm>
          <a:prstGeom prst="rect">
            <a:avLst/>
          </a:prstGeom>
          <a:noFill/>
          <a:ln/>
        </p:spPr>
        <p:txBody>
          <a:bodyPr wrap="square" lIns="0" tIns="0" rIns="0" bIns="0" rtlCol="0" anchor="ctr"/>
          <a:lstStyle/>
          <a:p>
            <a:pPr marL="0" indent="0">
              <a:buNone/>
            </a:pPr>
            <a:r>
              <a:rPr lang="en-US" sz="1300" b="1" dirty="0">
                <a:solidFill>
                  <a:srgbClr val="1A9E98"/>
                </a:solidFill>
              </a:rPr>
              <a:t>Self-Service Content Release</a:t>
            </a:r>
            <a:endParaRPr lang="en-US" sz="1300" dirty="0"/>
          </a:p>
        </p:txBody>
      </p:sp>
      <p:sp>
        <p:nvSpPr>
          <p:cNvPr id="20" name="Text 18"/>
          <p:cNvSpPr/>
          <p:nvPr/>
        </p:nvSpPr>
        <p:spPr>
          <a:xfrm>
            <a:off x="859536" y="3291840"/>
            <a:ext cx="4965192" cy="438912"/>
          </a:xfrm>
          <a:prstGeom prst="rect">
            <a:avLst/>
          </a:prstGeom>
          <a:noFill/>
          <a:ln/>
        </p:spPr>
        <p:txBody>
          <a:bodyPr wrap="square" lIns="254" tIns="254" rIns="254" bIns="254" rtlCol="0" anchor="t">
            <a:normAutofit/>
          </a:bodyPr>
          <a:lstStyle/>
          <a:p>
            <a:pPr marL="0" indent="0">
              <a:buNone/>
            </a:pPr>
            <a:r>
              <a:rPr lang="en-US" sz="1110" dirty="0">
                <a:solidFill>
                  <a:srgbClr val="25364A"/>
                </a:solidFill>
              </a:rPr>
              <a:t>Action: Publish updated troubleshooting articles for high-volume categories.</a:t>
            </a:r>
            <a:endParaRPr lang="en-US" sz="1110" dirty="0"/>
          </a:p>
          <a:p>
            <a:pPr marL="0" indent="0">
              <a:buNone/>
            </a:pPr>
            <a:r>
              <a:rPr lang="en-US" sz="1110" dirty="0">
                <a:solidFill>
                  <a:srgbClr val="25364A"/>
                </a:solidFill>
              </a:rPr>
              <a:t>Owner: Knowledge Manager | Target: 20 September 2026 | Priority: Medium</a:t>
            </a:r>
            <a:endParaRPr lang="en-US" sz="1110" dirty="0"/>
          </a:p>
        </p:txBody>
      </p:sp>
      <p:sp>
        <p:nvSpPr>
          <p:cNvPr id="21" name="Shape 19"/>
          <p:cNvSpPr/>
          <p:nvPr/>
        </p:nvSpPr>
        <p:spPr>
          <a:xfrm>
            <a:off x="6199632" y="2761488"/>
            <a:ext cx="5349240" cy="1097280"/>
          </a:xfrm>
          <a:prstGeom prst="roundRect">
            <a:avLst>
              <a:gd name="adj" fmla="val 3333"/>
            </a:avLst>
          </a:prstGeom>
          <a:solidFill>
            <a:srgbClr val="FFFFFF"/>
          </a:solidFill>
          <a:ln w="12700">
            <a:solidFill>
              <a:srgbClr val="D5DEE7"/>
            </a:solidFill>
            <a:prstDash val="solid"/>
          </a:ln>
        </p:spPr>
      </p:sp>
      <p:sp>
        <p:nvSpPr>
          <p:cNvPr id="22" name="Shape 20"/>
          <p:cNvSpPr/>
          <p:nvPr/>
        </p:nvSpPr>
        <p:spPr>
          <a:xfrm>
            <a:off x="6199632" y="2761488"/>
            <a:ext cx="73152" cy="1097280"/>
          </a:xfrm>
          <a:prstGeom prst="rect">
            <a:avLst/>
          </a:prstGeom>
          <a:solidFill>
            <a:srgbClr val="244A73"/>
          </a:solidFill>
          <a:ln w="12700">
            <a:solidFill>
              <a:srgbClr val="244A73"/>
            </a:solidFill>
            <a:prstDash val="solid"/>
          </a:ln>
        </p:spPr>
      </p:sp>
      <p:sp>
        <p:nvSpPr>
          <p:cNvPr id="23" name="Text 21"/>
          <p:cNvSpPr/>
          <p:nvPr/>
        </p:nvSpPr>
        <p:spPr>
          <a:xfrm>
            <a:off x="6400800" y="2907792"/>
            <a:ext cx="4983480" cy="274320"/>
          </a:xfrm>
          <a:prstGeom prst="rect">
            <a:avLst/>
          </a:prstGeom>
          <a:noFill/>
          <a:ln/>
        </p:spPr>
        <p:txBody>
          <a:bodyPr wrap="square" lIns="0" tIns="0" rIns="0" bIns="0" rtlCol="0" anchor="ctr"/>
          <a:lstStyle/>
          <a:p>
            <a:pPr marL="0" indent="0">
              <a:buNone/>
            </a:pPr>
            <a:r>
              <a:rPr lang="en-US" sz="1300" b="1" dirty="0">
                <a:solidFill>
                  <a:srgbClr val="244A73"/>
                </a:solidFill>
              </a:rPr>
              <a:t>Automated Ticket Classification</a:t>
            </a:r>
            <a:endParaRPr lang="en-US" sz="1300" dirty="0"/>
          </a:p>
        </p:txBody>
      </p:sp>
      <p:sp>
        <p:nvSpPr>
          <p:cNvPr id="24" name="Text 22"/>
          <p:cNvSpPr/>
          <p:nvPr/>
        </p:nvSpPr>
        <p:spPr>
          <a:xfrm>
            <a:off x="6400800" y="3291840"/>
            <a:ext cx="4965192" cy="438912"/>
          </a:xfrm>
          <a:prstGeom prst="rect">
            <a:avLst/>
          </a:prstGeom>
          <a:noFill/>
          <a:ln/>
        </p:spPr>
        <p:txBody>
          <a:bodyPr wrap="square" lIns="254" tIns="254" rIns="254" bIns="254" rtlCol="0" anchor="t">
            <a:normAutofit/>
          </a:bodyPr>
          <a:lstStyle/>
          <a:p>
            <a:pPr marL="0" indent="0">
              <a:buNone/>
            </a:pPr>
            <a:r>
              <a:rPr lang="en-US" sz="1110" dirty="0">
                <a:solidFill>
                  <a:srgbClr val="25364A"/>
                </a:solidFill>
              </a:rPr>
              <a:t>Action: Complete design, implementation plan, controls, and pilot success measures.</a:t>
            </a:r>
            <a:endParaRPr lang="en-US" sz="1110" dirty="0"/>
          </a:p>
          <a:p>
            <a:pPr marL="0" indent="0">
              <a:buNone/>
            </a:pPr>
            <a:r>
              <a:rPr lang="en-US" sz="1110" dirty="0">
                <a:solidFill>
                  <a:srgbClr val="25364A"/>
                </a:solidFill>
              </a:rPr>
              <a:t>Owner: IT Manager | Target: 15 October 2026 | Priority: High</a:t>
            </a:r>
            <a:endParaRPr lang="en-US" sz="1110" dirty="0"/>
          </a:p>
        </p:txBody>
      </p:sp>
      <p:sp>
        <p:nvSpPr>
          <p:cNvPr id="25" name="Shape 23"/>
          <p:cNvSpPr/>
          <p:nvPr/>
        </p:nvSpPr>
        <p:spPr>
          <a:xfrm>
            <a:off x="658368" y="4078224"/>
            <a:ext cx="5349240" cy="1097280"/>
          </a:xfrm>
          <a:prstGeom prst="roundRect">
            <a:avLst>
              <a:gd name="adj" fmla="val 3333"/>
            </a:avLst>
          </a:prstGeom>
          <a:solidFill>
            <a:srgbClr val="FFFFFF"/>
          </a:solidFill>
          <a:ln w="12700">
            <a:solidFill>
              <a:srgbClr val="D5DEE7"/>
            </a:solidFill>
            <a:prstDash val="solid"/>
          </a:ln>
        </p:spPr>
      </p:sp>
      <p:sp>
        <p:nvSpPr>
          <p:cNvPr id="26" name="Shape 24"/>
          <p:cNvSpPr/>
          <p:nvPr/>
        </p:nvSpPr>
        <p:spPr>
          <a:xfrm>
            <a:off x="658368" y="4078224"/>
            <a:ext cx="73152" cy="1097280"/>
          </a:xfrm>
          <a:prstGeom prst="rect">
            <a:avLst/>
          </a:prstGeom>
          <a:solidFill>
            <a:srgbClr val="E67E22"/>
          </a:solidFill>
          <a:ln w="12700">
            <a:solidFill>
              <a:srgbClr val="E67E22"/>
            </a:solidFill>
            <a:prstDash val="solid"/>
          </a:ln>
        </p:spPr>
      </p:sp>
      <p:sp>
        <p:nvSpPr>
          <p:cNvPr id="27" name="Text 25"/>
          <p:cNvSpPr/>
          <p:nvPr/>
        </p:nvSpPr>
        <p:spPr>
          <a:xfrm>
            <a:off x="859536" y="4224528"/>
            <a:ext cx="4983480" cy="274320"/>
          </a:xfrm>
          <a:prstGeom prst="rect">
            <a:avLst/>
          </a:prstGeom>
          <a:noFill/>
          <a:ln/>
        </p:spPr>
        <p:txBody>
          <a:bodyPr wrap="square" lIns="0" tIns="0" rIns="0" bIns="0" rtlCol="0" anchor="ctr"/>
          <a:lstStyle/>
          <a:p>
            <a:pPr marL="0" indent="0">
              <a:buNone/>
            </a:pPr>
            <a:r>
              <a:rPr lang="en-US" sz="1300" b="1" dirty="0">
                <a:solidFill>
                  <a:srgbClr val="E67E22"/>
                </a:solidFill>
              </a:rPr>
              <a:t>Weekend Connectivity Coverage</a:t>
            </a:r>
            <a:endParaRPr lang="en-US" sz="1300" dirty="0"/>
          </a:p>
        </p:txBody>
      </p:sp>
      <p:sp>
        <p:nvSpPr>
          <p:cNvPr id="28" name="Text 26"/>
          <p:cNvSpPr/>
          <p:nvPr/>
        </p:nvSpPr>
        <p:spPr>
          <a:xfrm>
            <a:off x="859536" y="4608576"/>
            <a:ext cx="4965192" cy="438912"/>
          </a:xfrm>
          <a:prstGeom prst="rect">
            <a:avLst/>
          </a:prstGeom>
          <a:noFill/>
          <a:ln/>
        </p:spPr>
        <p:txBody>
          <a:bodyPr wrap="square" lIns="254" tIns="254" rIns="254" bIns="254" rtlCol="0" anchor="t">
            <a:normAutofit/>
          </a:bodyPr>
          <a:lstStyle/>
          <a:p>
            <a:pPr marL="0" indent="0">
              <a:buNone/>
            </a:pPr>
            <a:r>
              <a:rPr lang="en-US" sz="1110" dirty="0">
                <a:solidFill>
                  <a:srgbClr val="25364A"/>
                </a:solidFill>
              </a:rPr>
              <a:t>Decision required: Establish weekend specialist availability and provider escalation coverage.</a:t>
            </a:r>
            <a:endParaRPr lang="en-US" sz="1110" dirty="0"/>
          </a:p>
          <a:p>
            <a:pPr marL="0" indent="0">
              <a:buNone/>
            </a:pPr>
            <a:r>
              <a:rPr lang="en-US" sz="1110" dirty="0">
                <a:solidFill>
                  <a:srgbClr val="25364A"/>
                </a:solidFill>
              </a:rPr>
              <a:t>Owner: Operations Manager | Target: 30 September 2026 | Priority: High</a:t>
            </a:r>
            <a:endParaRPr lang="en-US" sz="1110" dirty="0"/>
          </a:p>
        </p:txBody>
      </p:sp>
      <p:sp>
        <p:nvSpPr>
          <p:cNvPr id="29" name="Shape 27"/>
          <p:cNvSpPr/>
          <p:nvPr/>
        </p:nvSpPr>
        <p:spPr>
          <a:xfrm>
            <a:off x="6199632" y="4078224"/>
            <a:ext cx="5349240" cy="1097280"/>
          </a:xfrm>
          <a:prstGeom prst="roundRect">
            <a:avLst>
              <a:gd name="adj" fmla="val 3333"/>
            </a:avLst>
          </a:prstGeom>
          <a:solidFill>
            <a:srgbClr val="FFFFFF"/>
          </a:solidFill>
          <a:ln w="12700">
            <a:solidFill>
              <a:srgbClr val="D5DEE7"/>
            </a:solidFill>
            <a:prstDash val="solid"/>
          </a:ln>
        </p:spPr>
      </p:sp>
      <p:sp>
        <p:nvSpPr>
          <p:cNvPr id="30" name="Shape 28"/>
          <p:cNvSpPr/>
          <p:nvPr/>
        </p:nvSpPr>
        <p:spPr>
          <a:xfrm>
            <a:off x="6199632" y="4078224"/>
            <a:ext cx="73152" cy="1097280"/>
          </a:xfrm>
          <a:prstGeom prst="rect">
            <a:avLst/>
          </a:prstGeom>
          <a:solidFill>
            <a:srgbClr val="2E8B57"/>
          </a:solidFill>
          <a:ln w="12700">
            <a:solidFill>
              <a:srgbClr val="2E8B57"/>
            </a:solidFill>
            <a:prstDash val="solid"/>
          </a:ln>
        </p:spPr>
      </p:sp>
      <p:sp>
        <p:nvSpPr>
          <p:cNvPr id="31" name="Text 29"/>
          <p:cNvSpPr/>
          <p:nvPr/>
        </p:nvSpPr>
        <p:spPr>
          <a:xfrm>
            <a:off x="6400800" y="4224528"/>
            <a:ext cx="4983480" cy="274320"/>
          </a:xfrm>
          <a:prstGeom prst="rect">
            <a:avLst/>
          </a:prstGeom>
          <a:noFill/>
          <a:ln/>
        </p:spPr>
        <p:txBody>
          <a:bodyPr wrap="square" lIns="0" tIns="0" rIns="0" bIns="0" rtlCol="0" anchor="ctr"/>
          <a:lstStyle/>
          <a:p>
            <a:pPr marL="0" indent="0">
              <a:buNone/>
            </a:pPr>
            <a:r>
              <a:rPr lang="en-US" sz="1300" b="1" dirty="0">
                <a:solidFill>
                  <a:srgbClr val="2E8B57"/>
                </a:solidFill>
              </a:rPr>
              <a:t>Success Measures</a:t>
            </a:r>
            <a:endParaRPr lang="en-US" sz="1300" dirty="0"/>
          </a:p>
        </p:txBody>
      </p:sp>
      <p:sp>
        <p:nvSpPr>
          <p:cNvPr id="32" name="Text 30"/>
          <p:cNvSpPr/>
          <p:nvPr/>
        </p:nvSpPr>
        <p:spPr>
          <a:xfrm>
            <a:off x="6400800" y="4608576"/>
            <a:ext cx="4965192" cy="438912"/>
          </a:xfrm>
          <a:prstGeom prst="rect">
            <a:avLst/>
          </a:prstGeom>
          <a:noFill/>
          <a:ln/>
        </p:spPr>
        <p:txBody>
          <a:bodyPr wrap="square" lIns="254" tIns="254" rIns="254" bIns="254" rtlCol="0" anchor="t">
            <a:normAutofit/>
          </a:bodyPr>
          <a:lstStyle/>
          <a:p>
            <a:pPr marL="0" indent="0">
              <a:buNone/>
            </a:pPr>
            <a:r>
              <a:rPr lang="en-US" sz="1110" dirty="0">
                <a:solidFill>
                  <a:srgbClr val="25364A"/>
                </a:solidFill>
              </a:rPr>
              <a:t>Track SLA compliance, critical-ticket response, average resolution time, backlog ageing, repeat incidents, self-service rating, and customer satisfaction every month.</a:t>
            </a:r>
            <a:endParaRPr lang="en-US" sz="1110" dirty="0"/>
          </a:p>
        </p:txBody>
      </p:sp>
      <p:sp>
        <p:nvSpPr>
          <p:cNvPr id="33" name="Shape 31"/>
          <p:cNvSpPr/>
          <p:nvPr/>
        </p:nvSpPr>
        <p:spPr>
          <a:xfrm>
            <a:off x="658368" y="5888736"/>
            <a:ext cx="10881360" cy="411480"/>
          </a:xfrm>
          <a:prstGeom prst="roundRect">
            <a:avLst>
              <a:gd name="adj" fmla="val 6667"/>
            </a:avLst>
          </a:prstGeom>
          <a:solidFill>
            <a:srgbClr val="E7F4F3"/>
          </a:solidFill>
          <a:ln w="12700">
            <a:solidFill>
              <a:srgbClr val="B8DCD9"/>
            </a:solidFill>
            <a:prstDash val="solid"/>
          </a:ln>
        </p:spPr>
      </p:sp>
      <p:sp>
        <p:nvSpPr>
          <p:cNvPr id="34" name="Text 32"/>
          <p:cNvSpPr/>
          <p:nvPr/>
        </p:nvSpPr>
        <p:spPr>
          <a:xfrm>
            <a:off x="822960" y="5998464"/>
            <a:ext cx="10515600" cy="164592"/>
          </a:xfrm>
          <a:prstGeom prst="rect">
            <a:avLst/>
          </a:prstGeom>
          <a:noFill/>
          <a:ln/>
        </p:spPr>
        <p:txBody>
          <a:bodyPr wrap="square" lIns="0" tIns="0" rIns="0" bIns="0" rtlCol="0" anchor="ctr"/>
          <a:lstStyle/>
          <a:p>
            <a:pPr marL="0" indent="0" algn="ctr">
              <a:buNone/>
            </a:pPr>
            <a:r>
              <a:rPr lang="en-US" sz="950" b="1" dirty="0">
                <a:solidFill>
                  <a:srgbClr val="244A73"/>
                </a:solidFill>
              </a:rPr>
              <a:t>The next leadership review should confirm ownership, funding, implementation progress, and early performance impact.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Northstar Business Services Pvt.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Support Performance Review - Detailed Report</dc:title>
  <dc:subject>Content-focused customer support performance review</dc:subject>
  <dc:creator>Vinothkumar Sampath</dc:creator>
  <cp:lastModifiedBy>Vinothkumar Sampath</cp:lastModifiedBy>
  <cp:revision>2</cp:revision>
  <dcterms:created xsi:type="dcterms:W3CDTF">2026-08-28T13:59:05Z</dcterms:created>
  <dcterms:modified xsi:type="dcterms:W3CDTF">2026-08-28T14:00:18Z</dcterms:modified>
</cp:coreProperties>
</file>